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7" r:id="rId11"/>
    <p:sldId id="265" r:id="rId12"/>
    <p:sldId id="266" r:id="rId13"/>
  </p:sldIdLst>
  <p:sldSz cx="9144000" cy="5143500" type="screen16x9"/>
  <p:notesSz cx="51435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7" roundtripDataSignature="AMtx7miiCzEvAYziOUlGnFWioWbcqva5U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8F8A3FB-ECE3-4B66-B9A1-984D36C42418}">
  <a:tblStyle styleId="{D8F8A3FB-ECE3-4B66-B9A1-984D36C4241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38" d="100"/>
          <a:sy n="138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f3103c3c8f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2250000" cy="225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7" name="Google Shape;57;g3f3103c3c8f_1_0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2250000" cy="2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g3f3103c3c8f_1_0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2250000" cy="2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8" name="Google Shape;68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5" name="Google Shape;115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f3103c3c8f_5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874713" y="0"/>
            <a:ext cx="3998913" cy="22494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3" name="Google Shape;153;g3f3103c3c8f_5_2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2250000" cy="2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g3f3103c3c8f_5_2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2250000" cy="2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f3103c3c8f_5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2250000" cy="225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2" name="Google Shape;172;g3f3103c3c8f_5_4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2250000" cy="2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g3f3103c3c8f_5_4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2250000" cy="2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f3103c3c8f_5_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-47625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f3103c3c8f_5_68:notes"/>
          <p:cNvSpPr txBox="1">
            <a:spLocks noGrp="1"/>
          </p:cNvSpPr>
          <p:nvPr>
            <p:ph type="body" idx="1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5" name="Google Shape;205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1" name="Google Shape;251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" name="Google Shape;252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4" name="Google Shape;284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5" name="Google Shape;285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f3103c3c8f_5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874713" y="0"/>
            <a:ext cx="3998913" cy="22494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0" name="Google Shape;310;g3f3103c3c8f_5_0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2250000" cy="2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g3f3103c3c8f_5_0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2250000" cy="2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12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3f3103c3c8f_1_66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5" name="Google Shape;15;g3f3103c3c8f_1_66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6" name="Google Shape;16;g3f3103c3c8f_1_6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3f3103c3c8f_1_70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9" name="Google Shape;19;g3f3103c3c8f_1_7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g3f3103c3c8f_1_7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g3f3103c3c8f_1_7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3" name="Google Shape;23;g3f3103c3c8f_1_7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g3f3103c3c8f_1_7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g3f3103c3c8f_1_7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7" name="Google Shape;27;g3f3103c3c8f_1_77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8" name="Google Shape;28;g3f3103c3c8f_1_7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g3f3103c3c8f_1_8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g3f3103c3c8f_1_8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g3f3103c3c8f_1_85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4" name="Google Shape;34;g3f3103c3c8f_1_85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5" name="Google Shape;35;g3f3103c3c8f_1_8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g3f3103c3c8f_1_89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8" name="Google Shape;38;g3f3103c3c8f_1_8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3f3103c3c8f_1_92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g3f3103c3c8f_1_92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2" name="Google Shape;42;g3f3103c3c8f_1_92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3" name="Google Shape;43;g3f3103c3c8f_1_92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4" name="Google Shape;44;g3f3103c3c8f_1_9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g3f3103c3c8f_1_98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7" name="Google Shape;47;g3f3103c3c8f_1_9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g3f3103c3c8f_1_10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0" name="Google Shape;50;g3f3103c3c8f_1_10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1" name="Google Shape;51;g3f3103c3c8f_1_10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f3103c3c8f_1_10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f3103c3c8f_1_6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g3f3103c3c8f_1_6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2" name="Google Shape;12;g3f3103c3c8f_1_6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540"/>
        </a:solid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f3103c3c8f_1_0"/>
          <p:cNvSpPr/>
          <p:nvPr/>
        </p:nvSpPr>
        <p:spPr>
          <a:xfrm>
            <a:off x="617220" y="617220"/>
            <a:ext cx="685800" cy="685800"/>
          </a:xfrm>
          <a:prstGeom prst="ellipse">
            <a:avLst/>
          </a:prstGeom>
          <a:solidFill>
            <a:srgbClr val="0B4F6C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1" name="Google Shape;61;g3f3103c3c8f_1_0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5528" y="795528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g3f3103c3c8f_1_0"/>
          <p:cNvSpPr/>
          <p:nvPr/>
        </p:nvSpPr>
        <p:spPr>
          <a:xfrm>
            <a:off x="617220" y="1851660"/>
            <a:ext cx="7886700" cy="7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lang="en-US" sz="3000" b="1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RETAIL SHELF PRODUCT RECOGNITION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3" name="Google Shape;63;g3f3103c3c8f_1_0"/>
          <p:cNvCxnSpPr/>
          <p:nvPr/>
        </p:nvCxnSpPr>
        <p:spPr>
          <a:xfrm>
            <a:off x="617220" y="3120390"/>
            <a:ext cx="2194800" cy="0"/>
          </a:xfrm>
          <a:prstGeom prst="straightConnector1">
            <a:avLst/>
          </a:prstGeom>
          <a:noFill/>
          <a:ln w="19050" cap="flat" cmpd="sng">
            <a:solidFill>
              <a:srgbClr val="1C7293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4" name="Google Shape;64;g3f3103c3c8f_1_0"/>
          <p:cNvSpPr/>
          <p:nvPr/>
        </p:nvSpPr>
        <p:spPr>
          <a:xfrm>
            <a:off x="617220" y="3257550"/>
            <a:ext cx="6172200" cy="54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FC3CE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AFC3CE"/>
                </a:solidFill>
                <a:latin typeface="Calibri"/>
                <a:ea typeface="Calibri"/>
                <a:cs typeface="Calibri"/>
                <a:sym typeface="Calibri"/>
              </a:rPr>
              <a:t>Capstone Project Review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FC3CE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AFC3CE"/>
                </a:solidFill>
                <a:latin typeface="Calibri"/>
                <a:ea typeface="Calibri"/>
                <a:cs typeface="Calibri"/>
                <a:sym typeface="Calibri"/>
              </a:rPr>
              <a:t> July 5, 2026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g3f3103c3c8f_1_0"/>
          <p:cNvSpPr txBox="1"/>
          <p:nvPr/>
        </p:nvSpPr>
        <p:spPr>
          <a:xfrm>
            <a:off x="525780" y="3806190"/>
            <a:ext cx="45720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-95250" algn="l" rtl="0">
              <a:spcBef>
                <a:spcPts val="0"/>
              </a:spcBef>
              <a:spcAft>
                <a:spcPts val="0"/>
              </a:spcAft>
              <a:buClr>
                <a:srgbClr val="8ECAE6"/>
              </a:buClr>
              <a:buSzPts val="1500"/>
              <a:buFont typeface="Arial"/>
              <a:buChar char="•"/>
            </a:pPr>
            <a:r>
              <a:rPr lang="en-US" sz="1500" b="0" i="0" u="none" strike="noStrike">
                <a:solidFill>
                  <a:srgbClr val="8ECAE6"/>
                </a:solidFill>
                <a:latin typeface="Calibri"/>
                <a:ea typeface="Calibri"/>
                <a:cs typeface="Calibri"/>
                <a:sym typeface="Calibri"/>
              </a:rPr>
              <a:t>Team(Group: </a:t>
            </a:r>
            <a:r>
              <a:rPr lang="en-US" sz="1500">
                <a:solidFill>
                  <a:srgbClr val="8ECAE6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r>
              <a:rPr lang="en-US" sz="1500" b="0" i="0" u="none" strike="noStrike">
                <a:solidFill>
                  <a:srgbClr val="8ECAE6"/>
                </a:solidFill>
                <a:latin typeface="Calibri"/>
                <a:ea typeface="Calibri"/>
                <a:cs typeface="Calibri"/>
                <a:sym typeface="Calibri"/>
              </a:rPr>
              <a:t>) :  Moorthy, Nikhil, Sivakanth, Surabhi</a:t>
            </a:r>
            <a:endParaRPr sz="1500" b="0" i="0" u="none" strike="noStrike">
              <a:solidFill>
                <a:srgbClr val="8ECAE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-95250" algn="l" rtl="0">
              <a:spcBef>
                <a:spcPts val="0"/>
              </a:spcBef>
              <a:spcAft>
                <a:spcPts val="0"/>
              </a:spcAft>
              <a:buClr>
                <a:srgbClr val="8ECAE6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8ECAE6"/>
                </a:solidFill>
                <a:latin typeface="Calibri"/>
                <a:ea typeface="Calibri"/>
                <a:cs typeface="Calibri"/>
                <a:sym typeface="Calibri"/>
              </a:rPr>
              <a:t>Mentor: Pratyusha</a:t>
            </a:r>
            <a:endParaRPr sz="1500">
              <a:solidFill>
                <a:srgbClr val="8ECAE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-95250" algn="l" rtl="0">
              <a:spcBef>
                <a:spcPts val="0"/>
              </a:spcBef>
              <a:spcAft>
                <a:spcPts val="0"/>
              </a:spcAft>
              <a:buClr>
                <a:srgbClr val="8ECAE6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8ECAE6"/>
                </a:solidFill>
                <a:latin typeface="Calibri"/>
                <a:ea typeface="Calibri"/>
                <a:cs typeface="Calibri"/>
                <a:sym typeface="Calibri"/>
              </a:rPr>
              <a:t>Professor: Anoop</a:t>
            </a:r>
            <a:endParaRPr sz="1500">
              <a:solidFill>
                <a:srgbClr val="8ECAE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"/>
          <p:cNvSpPr/>
          <p:nvPr/>
        </p:nvSpPr>
        <p:spPr>
          <a:xfrm>
            <a:off x="457200" y="68580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lang="en-US" sz="3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RETAIL SHELF PRODUCT RECOGNITION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1"/>
          <p:cNvSpPr/>
          <p:nvPr/>
        </p:nvSpPr>
        <p:spPr>
          <a:xfrm>
            <a:off x="457200" y="155448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F9CF9"/>
              </a:buClr>
              <a:buSzPts val="2000"/>
              <a:buFont typeface="Calibri"/>
              <a:buNone/>
            </a:pPr>
            <a:r>
              <a:rPr lang="en-US" sz="2000" b="1" i="0" u="none" strike="noStrike" cap="none">
                <a:solidFill>
                  <a:srgbClr val="4F9CF9"/>
                </a:solidFill>
                <a:latin typeface="Calibri"/>
                <a:ea typeface="Calibri"/>
                <a:cs typeface="Calibri"/>
                <a:sym typeface="Calibri"/>
              </a:rPr>
              <a:t>A Three-Stage Computer Vision Pipeline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1"/>
          <p:cNvSpPr/>
          <p:nvPr/>
        </p:nvSpPr>
        <p:spPr>
          <a:xfrm>
            <a:off x="502920" y="2286000"/>
            <a:ext cx="2651700" cy="1371600"/>
          </a:xfrm>
          <a:prstGeom prst="roundRect">
            <a:avLst>
              <a:gd name="adj" fmla="val 6667"/>
            </a:avLst>
          </a:prstGeom>
          <a:solidFill>
            <a:srgbClr val="1A2B4A"/>
          </a:solidFill>
          <a:ln w="25400" cap="flat" cmpd="sng">
            <a:solidFill>
              <a:srgbClr val="4F9CF9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27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1"/>
          <p:cNvSpPr/>
          <p:nvPr/>
        </p:nvSpPr>
        <p:spPr>
          <a:xfrm>
            <a:off x="612648" y="2377440"/>
            <a:ext cx="384048" cy="384048"/>
          </a:xfrm>
          <a:prstGeom prst="ellipse">
            <a:avLst/>
          </a:prstGeom>
          <a:solidFill>
            <a:srgbClr val="4F9CF9"/>
          </a:solidFill>
          <a:ln w="12700" cap="flat" cmpd="sng">
            <a:solidFill>
              <a:srgbClr val="4F9CF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1"/>
          <p:cNvSpPr/>
          <p:nvPr/>
        </p:nvSpPr>
        <p:spPr>
          <a:xfrm>
            <a:off x="612648" y="2377440"/>
            <a:ext cx="3840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1"/>
          <p:cNvSpPr/>
          <p:nvPr/>
        </p:nvSpPr>
        <p:spPr>
          <a:xfrm>
            <a:off x="1069848" y="2386584"/>
            <a:ext cx="20118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YOLOv8 &amp; YOLOv26 Detection</a:t>
            </a:r>
            <a:endParaRPr sz="1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1"/>
          <p:cNvSpPr/>
          <p:nvPr/>
        </p:nvSpPr>
        <p:spPr>
          <a:xfrm>
            <a:off x="594360" y="2834640"/>
            <a:ext cx="24690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WHERE are the products?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1"/>
          <p:cNvSpPr/>
          <p:nvPr/>
        </p:nvSpPr>
        <p:spPr>
          <a:xfrm>
            <a:off x="3383280" y="2286000"/>
            <a:ext cx="2651700" cy="1371600"/>
          </a:xfrm>
          <a:prstGeom prst="roundRect">
            <a:avLst>
              <a:gd name="adj" fmla="val 6667"/>
            </a:avLst>
          </a:prstGeom>
          <a:solidFill>
            <a:srgbClr val="1A2B4A"/>
          </a:solidFill>
          <a:ln w="25400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27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1"/>
          <p:cNvSpPr/>
          <p:nvPr/>
        </p:nvSpPr>
        <p:spPr>
          <a:xfrm>
            <a:off x="3493008" y="2377440"/>
            <a:ext cx="384048" cy="384048"/>
          </a:xfrm>
          <a:prstGeom prst="ellipse">
            <a:avLst/>
          </a:prstGeom>
          <a:solidFill>
            <a:srgbClr val="F59E0B"/>
          </a:solidFill>
          <a:ln w="12700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1"/>
          <p:cNvSpPr/>
          <p:nvPr/>
        </p:nvSpPr>
        <p:spPr>
          <a:xfrm>
            <a:off x="3493008" y="2377440"/>
            <a:ext cx="3840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"/>
          <p:cNvSpPr/>
          <p:nvPr/>
        </p:nvSpPr>
        <p:spPr>
          <a:xfrm>
            <a:off x="3950208" y="2386584"/>
            <a:ext cx="20118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CLIP Category Classification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1"/>
          <p:cNvSpPr/>
          <p:nvPr/>
        </p:nvSpPr>
        <p:spPr>
          <a:xfrm>
            <a:off x="3474720" y="2834640"/>
            <a:ext cx="24690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WHAT category is each crop?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1"/>
          <p:cNvSpPr/>
          <p:nvPr/>
        </p:nvSpPr>
        <p:spPr>
          <a:xfrm>
            <a:off x="6263640" y="2286000"/>
            <a:ext cx="2651700" cy="1371600"/>
          </a:xfrm>
          <a:prstGeom prst="roundRect">
            <a:avLst>
              <a:gd name="adj" fmla="val 6667"/>
            </a:avLst>
          </a:prstGeom>
          <a:solidFill>
            <a:srgbClr val="1A2B4A"/>
          </a:solidFill>
          <a:ln w="25400" cap="flat" cmpd="sng">
            <a:solidFill>
              <a:srgbClr val="34D399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27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1"/>
          <p:cNvSpPr/>
          <p:nvPr/>
        </p:nvSpPr>
        <p:spPr>
          <a:xfrm>
            <a:off x="6373368" y="2377440"/>
            <a:ext cx="384048" cy="384048"/>
          </a:xfrm>
          <a:prstGeom prst="ellipse">
            <a:avLst/>
          </a:prstGeom>
          <a:solidFill>
            <a:srgbClr val="34D399"/>
          </a:solidFill>
          <a:ln w="12700" cap="flat" cmpd="sng">
            <a:solidFill>
              <a:srgbClr val="34D3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"/>
          <p:cNvSpPr/>
          <p:nvPr/>
        </p:nvSpPr>
        <p:spPr>
          <a:xfrm>
            <a:off x="6373368" y="2377440"/>
            <a:ext cx="3840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/>
          <p:nvPr/>
        </p:nvSpPr>
        <p:spPr>
          <a:xfrm>
            <a:off x="6830568" y="2386584"/>
            <a:ext cx="20118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CLIP SKU Library Match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"/>
          <p:cNvSpPr/>
          <p:nvPr/>
        </p:nvSpPr>
        <p:spPr>
          <a:xfrm>
            <a:off x="6355080" y="2834640"/>
            <a:ext cx="24690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WHICH exact SKU is it?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YOLOv8 + openai/clip-vit-base-patch32 + FastAPI + React  |  Capstone Project  |  July 2026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9" name="Google Shape;89;p1"/>
          <p:cNvCxnSpPr/>
          <p:nvPr/>
        </p:nvCxnSpPr>
        <p:spPr>
          <a:xfrm>
            <a:off x="6050150" y="2930725"/>
            <a:ext cx="198900" cy="6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0" name="Google Shape;90;p1"/>
          <p:cNvCxnSpPr/>
          <p:nvPr/>
        </p:nvCxnSpPr>
        <p:spPr>
          <a:xfrm>
            <a:off x="3169488" y="2930725"/>
            <a:ext cx="198900" cy="6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/>
          <p:nvPr/>
        </p:nvSpPr>
        <p:spPr>
          <a:xfrm>
            <a:off x="365760" y="228600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Problem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2"/>
          <p:cNvSpPr/>
          <p:nvPr/>
        </p:nvSpPr>
        <p:spPr>
          <a:xfrm>
            <a:off x="365760" y="960120"/>
            <a:ext cx="4023360" cy="1097280"/>
          </a:xfrm>
          <a:prstGeom prst="roundRect">
            <a:avLst>
              <a:gd name="adj" fmla="val 8333"/>
            </a:avLst>
          </a:prstGeom>
          <a:solidFill>
            <a:srgbClr val="132040"/>
          </a:solidFill>
          <a:ln w="12700" cap="flat" cmpd="sng">
            <a:solidFill>
              <a:srgbClr val="1A2B4A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27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2"/>
          <p:cNvSpPr/>
          <p:nvPr/>
        </p:nvSpPr>
        <p:spPr>
          <a:xfrm>
            <a:off x="502920" y="1033272"/>
            <a:ext cx="374904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Manual audits are slow &amp; costly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2"/>
          <p:cNvSpPr/>
          <p:nvPr/>
        </p:nvSpPr>
        <p:spPr>
          <a:xfrm>
            <a:off x="502920" y="1453896"/>
            <a:ext cx="374904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Shelf checks across stores take hours. Errors are frequent.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2"/>
          <p:cNvSpPr/>
          <p:nvPr/>
        </p:nvSpPr>
        <p:spPr>
          <a:xfrm>
            <a:off x="365760" y="2240280"/>
            <a:ext cx="4023360" cy="1097280"/>
          </a:xfrm>
          <a:prstGeom prst="roundRect">
            <a:avLst>
              <a:gd name="adj" fmla="val 8333"/>
            </a:avLst>
          </a:prstGeom>
          <a:solidFill>
            <a:srgbClr val="132040"/>
          </a:solidFill>
          <a:ln w="12700" cap="flat" cmpd="sng">
            <a:solidFill>
              <a:srgbClr val="1A2B4A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27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2"/>
          <p:cNvSpPr/>
          <p:nvPr/>
        </p:nvSpPr>
        <p:spPr>
          <a:xfrm>
            <a:off x="502920" y="2313432"/>
            <a:ext cx="374904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Thousands of SKUs — hard to scale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2"/>
          <p:cNvSpPr/>
          <p:nvPr/>
        </p:nvSpPr>
        <p:spPr>
          <a:xfrm>
            <a:off x="502920" y="2734056"/>
            <a:ext cx="374904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Training a classifier per product is infeasible at retail scale.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2"/>
          <p:cNvSpPr/>
          <p:nvPr/>
        </p:nvSpPr>
        <p:spPr>
          <a:xfrm>
            <a:off x="365760" y="3520440"/>
            <a:ext cx="4023360" cy="1097280"/>
          </a:xfrm>
          <a:prstGeom prst="roundRect">
            <a:avLst>
              <a:gd name="adj" fmla="val 8333"/>
            </a:avLst>
          </a:prstGeom>
          <a:solidFill>
            <a:srgbClr val="132040"/>
          </a:solidFill>
          <a:ln w="12700" cap="flat" cmpd="sng">
            <a:solidFill>
              <a:srgbClr val="1A2B4A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27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2"/>
          <p:cNvSpPr/>
          <p:nvPr/>
        </p:nvSpPr>
        <p:spPr>
          <a:xfrm>
            <a:off x="502920" y="3593592"/>
            <a:ext cx="374904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Out-of-stocks go undetected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2"/>
          <p:cNvSpPr/>
          <p:nvPr/>
        </p:nvSpPr>
        <p:spPr>
          <a:xfrm>
            <a:off x="502920" y="4014216"/>
            <a:ext cx="374904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Gaps and planogram violations are invisible without automated vision.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2"/>
          <p:cNvSpPr/>
          <p:nvPr/>
        </p:nvSpPr>
        <p:spPr>
          <a:xfrm>
            <a:off x="4754880" y="960120"/>
            <a:ext cx="4069080" cy="3749040"/>
          </a:xfrm>
          <a:prstGeom prst="roundRect">
            <a:avLst>
              <a:gd name="adj" fmla="val 2927"/>
            </a:avLst>
          </a:prstGeom>
          <a:solidFill>
            <a:srgbClr val="132040"/>
          </a:solidFill>
          <a:ln w="25400" cap="flat" cmpd="sng">
            <a:solidFill>
              <a:srgbClr val="4F9CF9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27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2"/>
          <p:cNvSpPr/>
          <p:nvPr/>
        </p:nvSpPr>
        <p:spPr>
          <a:xfrm>
            <a:off x="4892040" y="1078992"/>
            <a:ext cx="37947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F9CF9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rgbClr val="4F9CF9"/>
                </a:solidFill>
                <a:latin typeface="Calibri"/>
                <a:ea typeface="Calibri"/>
                <a:cs typeface="Calibri"/>
                <a:sym typeface="Calibri"/>
              </a:rPr>
              <a:t>Solution Goal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2"/>
          <p:cNvSpPr/>
          <p:nvPr/>
        </p:nvSpPr>
        <p:spPr>
          <a:xfrm>
            <a:off x="4892040" y="1600200"/>
            <a:ext cx="37947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 Detect every product on a shelf image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2"/>
          <p:cNvSpPr/>
          <p:nvPr/>
        </p:nvSpPr>
        <p:spPr>
          <a:xfrm>
            <a:off x="4892040" y="2167128"/>
            <a:ext cx="37947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   Identify each product </a:t>
            </a:r>
            <a:r>
              <a:rPr lang="en-US" sz="120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category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2"/>
          <p:cNvSpPr/>
          <p:nvPr/>
        </p:nvSpPr>
        <p:spPr>
          <a:xfrm>
            <a:off x="4892040" y="2734056"/>
            <a:ext cx="37947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   Match known SKUs via embedding library first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2"/>
          <p:cNvSpPr/>
          <p:nvPr/>
        </p:nvSpPr>
        <p:spPr>
          <a:xfrm>
            <a:off x="4892040" y="3262263"/>
            <a:ext cx="37947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   Deliver annotated results + inventory summary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2"/>
          <p:cNvSpPr/>
          <p:nvPr/>
        </p:nvSpPr>
        <p:spPr>
          <a:xfrm>
            <a:off x="4892040" y="4206240"/>
            <a:ext cx="37947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34D399"/>
                </a:solidFill>
                <a:latin typeface="Calibri"/>
                <a:ea typeface="Calibri"/>
                <a:cs typeface="Calibri"/>
                <a:sym typeface="Calibri"/>
              </a:rPr>
              <a:t>Three-Stage CV Pipeline --&gt;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3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Three-Stage Pipeline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3"/>
          <p:cNvSpPr/>
          <p:nvPr/>
        </p:nvSpPr>
        <p:spPr>
          <a:xfrm>
            <a:off x="365760" y="685800"/>
            <a:ext cx="84124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Each stage answers a different question - known products skip Stage 2 via library shortcut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3"/>
          <p:cNvSpPr/>
          <p:nvPr/>
        </p:nvSpPr>
        <p:spPr>
          <a:xfrm>
            <a:off x="137160" y="1325880"/>
            <a:ext cx="1188720" cy="2560320"/>
          </a:xfrm>
          <a:prstGeom prst="roundRect">
            <a:avLst>
              <a:gd name="adj" fmla="val 7692"/>
            </a:avLst>
          </a:prstGeom>
          <a:solidFill>
            <a:srgbClr val="132040"/>
          </a:solidFill>
          <a:ln w="12700" cap="flat" cmpd="sng">
            <a:solidFill>
              <a:srgbClr val="1A2B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3"/>
          <p:cNvSpPr/>
          <p:nvPr/>
        </p:nvSpPr>
        <p:spPr>
          <a:xfrm>
            <a:off x="137160" y="1325880"/>
            <a:ext cx="118872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F9CF9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4F9CF9"/>
                </a:solidFill>
                <a:latin typeface="Calibri"/>
                <a:ea typeface="Calibri"/>
                <a:cs typeface="Calibri"/>
                <a:sym typeface="Calibri"/>
              </a:rPr>
              <a:t>[IMG]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Shelf Image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3"/>
          <p:cNvSpPr/>
          <p:nvPr/>
        </p:nvSpPr>
        <p:spPr>
          <a:xfrm>
            <a:off x="1325880" y="2468880"/>
            <a:ext cx="3200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2000"/>
              <a:buFont typeface="Calibri"/>
              <a:buNone/>
            </a:pPr>
            <a:r>
              <a:rPr lang="en-US" sz="20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-&gt;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3"/>
          <p:cNvSpPr/>
          <p:nvPr/>
        </p:nvSpPr>
        <p:spPr>
          <a:xfrm>
            <a:off x="1645920" y="1188720"/>
            <a:ext cx="1874520" cy="2743200"/>
          </a:xfrm>
          <a:prstGeom prst="roundRect">
            <a:avLst>
              <a:gd name="adj" fmla="val 5854"/>
            </a:avLst>
          </a:prstGeom>
          <a:solidFill>
            <a:srgbClr val="132040"/>
          </a:solidFill>
          <a:ln w="25400" cap="flat" cmpd="sng">
            <a:solidFill>
              <a:srgbClr val="4F9CF9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27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3"/>
          <p:cNvSpPr/>
          <p:nvPr/>
        </p:nvSpPr>
        <p:spPr>
          <a:xfrm>
            <a:off x="1682496" y="1234440"/>
            <a:ext cx="1801368" cy="438912"/>
          </a:xfrm>
          <a:prstGeom prst="roundRect">
            <a:avLst>
              <a:gd name="adj" fmla="val 16667"/>
            </a:avLst>
          </a:prstGeom>
          <a:solidFill>
            <a:srgbClr val="4F9CF9"/>
          </a:solidFill>
          <a:ln w="12700" cap="flat" cmpd="sng">
            <a:solidFill>
              <a:srgbClr val="4F9CF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3"/>
          <p:cNvSpPr/>
          <p:nvPr/>
        </p:nvSpPr>
        <p:spPr>
          <a:xfrm>
            <a:off x="1682496" y="1234440"/>
            <a:ext cx="1801368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STAGE 1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3"/>
          <p:cNvSpPr/>
          <p:nvPr/>
        </p:nvSpPr>
        <p:spPr>
          <a:xfrm>
            <a:off x="1719072" y="1737360"/>
            <a:ext cx="173736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YOLOv8 &amp; YOLOv26</a:t>
            </a:r>
            <a:endParaRPr sz="1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Detection</a:t>
            </a:r>
            <a:endParaRPr sz="1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3"/>
          <p:cNvSpPr/>
          <p:nvPr/>
        </p:nvSpPr>
        <p:spPr>
          <a:xfrm>
            <a:off x="1719072" y="2340864"/>
            <a:ext cx="173736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WHERE are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the products?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3"/>
          <p:cNvSpPr/>
          <p:nvPr/>
        </p:nvSpPr>
        <p:spPr>
          <a:xfrm>
            <a:off x="1719072" y="2880360"/>
            <a:ext cx="173736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F9CF9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4F9CF9"/>
                </a:solidFill>
                <a:latin typeface="Calibri"/>
                <a:ea typeface="Calibri"/>
                <a:cs typeface="Calibri"/>
                <a:sym typeface="Calibri"/>
              </a:rPr>
              <a:t>89.7%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3"/>
          <p:cNvSpPr/>
          <p:nvPr/>
        </p:nvSpPr>
        <p:spPr>
          <a:xfrm>
            <a:off x="1719072" y="3310128"/>
            <a:ext cx="173736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mAP@50  SKU110K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3"/>
          <p:cNvSpPr/>
          <p:nvPr/>
        </p:nvSpPr>
        <p:spPr>
          <a:xfrm>
            <a:off x="3520440" y="2468880"/>
            <a:ext cx="3200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2000"/>
              <a:buFont typeface="Calibri"/>
              <a:buNone/>
            </a:pPr>
            <a:r>
              <a:rPr lang="en-US" sz="20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-&gt;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3"/>
          <p:cNvSpPr/>
          <p:nvPr/>
        </p:nvSpPr>
        <p:spPr>
          <a:xfrm>
            <a:off x="3840480" y="1188720"/>
            <a:ext cx="1874520" cy="2743200"/>
          </a:xfrm>
          <a:prstGeom prst="roundRect">
            <a:avLst>
              <a:gd name="adj" fmla="val 5854"/>
            </a:avLst>
          </a:prstGeom>
          <a:solidFill>
            <a:srgbClr val="132040"/>
          </a:solidFill>
          <a:ln w="25400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27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3"/>
          <p:cNvSpPr/>
          <p:nvPr/>
        </p:nvSpPr>
        <p:spPr>
          <a:xfrm>
            <a:off x="3877056" y="1234440"/>
            <a:ext cx="1801368" cy="438912"/>
          </a:xfrm>
          <a:prstGeom prst="roundRect">
            <a:avLst>
              <a:gd name="adj" fmla="val 16667"/>
            </a:avLst>
          </a:prstGeom>
          <a:solidFill>
            <a:srgbClr val="F59E0B"/>
          </a:solidFill>
          <a:ln w="12700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3"/>
          <p:cNvSpPr/>
          <p:nvPr/>
        </p:nvSpPr>
        <p:spPr>
          <a:xfrm>
            <a:off x="3877056" y="1234440"/>
            <a:ext cx="1801368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STAGE 2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3"/>
          <p:cNvSpPr/>
          <p:nvPr/>
        </p:nvSpPr>
        <p:spPr>
          <a:xfrm>
            <a:off x="3913632" y="1737360"/>
            <a:ext cx="173736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CLIP Category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Classification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3"/>
          <p:cNvSpPr/>
          <p:nvPr/>
        </p:nvSpPr>
        <p:spPr>
          <a:xfrm>
            <a:off x="3913632" y="2340864"/>
            <a:ext cx="173736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WHAT category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is each crop?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3"/>
          <p:cNvSpPr/>
          <p:nvPr/>
        </p:nvSpPr>
        <p:spPr>
          <a:xfrm>
            <a:off x="3913632" y="2880360"/>
            <a:ext cx="173736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600"/>
              <a:buFont typeface="Calibri"/>
              <a:buNone/>
            </a:pPr>
            <a:r>
              <a:rPr lang="en-US" sz="1000" b="1" i="0" u="none" strike="noStrike" cap="none" dirty="0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Implemented: 38 categories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600"/>
              <a:buFont typeface="Calibri"/>
              <a:buNone/>
            </a:pPr>
            <a:r>
              <a:rPr lang="en-US" sz="1000" b="1" i="0" u="none" strike="noStrike" cap="none" dirty="0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Tested: 3 Categories</a:t>
            </a:r>
            <a:endParaRPr sz="1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3"/>
          <p:cNvSpPr/>
          <p:nvPr/>
        </p:nvSpPr>
        <p:spPr>
          <a:xfrm>
            <a:off x="3913632" y="3310128"/>
            <a:ext cx="173736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4 prompts each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3"/>
          <p:cNvSpPr/>
          <p:nvPr/>
        </p:nvSpPr>
        <p:spPr>
          <a:xfrm>
            <a:off x="5715000" y="2468880"/>
            <a:ext cx="3200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2000"/>
              <a:buFont typeface="Calibri"/>
              <a:buNone/>
            </a:pPr>
            <a:r>
              <a:rPr lang="en-US" sz="20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-&gt;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3"/>
          <p:cNvSpPr/>
          <p:nvPr/>
        </p:nvSpPr>
        <p:spPr>
          <a:xfrm>
            <a:off x="6035040" y="1188720"/>
            <a:ext cx="1874520" cy="2743200"/>
          </a:xfrm>
          <a:prstGeom prst="roundRect">
            <a:avLst>
              <a:gd name="adj" fmla="val 5854"/>
            </a:avLst>
          </a:prstGeom>
          <a:solidFill>
            <a:srgbClr val="132040"/>
          </a:solidFill>
          <a:ln w="25400" cap="flat" cmpd="sng">
            <a:solidFill>
              <a:srgbClr val="34D399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27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3"/>
          <p:cNvSpPr/>
          <p:nvPr/>
        </p:nvSpPr>
        <p:spPr>
          <a:xfrm>
            <a:off x="6071616" y="1234440"/>
            <a:ext cx="1801368" cy="438912"/>
          </a:xfrm>
          <a:prstGeom prst="roundRect">
            <a:avLst>
              <a:gd name="adj" fmla="val 16667"/>
            </a:avLst>
          </a:prstGeom>
          <a:solidFill>
            <a:srgbClr val="34D399"/>
          </a:solidFill>
          <a:ln w="12700" cap="flat" cmpd="sng">
            <a:solidFill>
              <a:srgbClr val="34D3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3"/>
          <p:cNvSpPr/>
          <p:nvPr/>
        </p:nvSpPr>
        <p:spPr>
          <a:xfrm>
            <a:off x="6071616" y="1234440"/>
            <a:ext cx="1801368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STAGE 3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3"/>
          <p:cNvSpPr/>
          <p:nvPr/>
        </p:nvSpPr>
        <p:spPr>
          <a:xfrm>
            <a:off x="6108192" y="1737360"/>
            <a:ext cx="173736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CLIP SKU</a:t>
            </a:r>
            <a:endParaRPr sz="1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Library Match &amp; Planogram</a:t>
            </a:r>
            <a:endParaRPr sz="1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3"/>
          <p:cNvSpPr/>
          <p:nvPr/>
        </p:nvSpPr>
        <p:spPr>
          <a:xfrm>
            <a:off x="6108192" y="2340864"/>
            <a:ext cx="173736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WHICH exact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SKU is it?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3"/>
          <p:cNvSpPr/>
          <p:nvPr/>
        </p:nvSpPr>
        <p:spPr>
          <a:xfrm>
            <a:off x="6108192" y="2880360"/>
            <a:ext cx="173736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34D399"/>
                </a:solidFill>
                <a:latin typeface="Calibri"/>
                <a:ea typeface="Calibri"/>
                <a:cs typeface="Calibri"/>
                <a:sym typeface="Calibri"/>
              </a:rPr>
              <a:t>&gt;= 0.82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3"/>
          <p:cNvSpPr/>
          <p:nvPr/>
        </p:nvSpPr>
        <p:spPr>
          <a:xfrm>
            <a:off x="6108192" y="3310128"/>
            <a:ext cx="173736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cosine similarity cutoff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3"/>
          <p:cNvSpPr/>
          <p:nvPr/>
        </p:nvSpPr>
        <p:spPr>
          <a:xfrm>
            <a:off x="7909560" y="2468880"/>
            <a:ext cx="3200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2000"/>
              <a:buFont typeface="Calibri"/>
              <a:buNone/>
            </a:pPr>
            <a:r>
              <a:rPr lang="en-US" sz="20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-&gt;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3"/>
          <p:cNvSpPr/>
          <p:nvPr/>
        </p:nvSpPr>
        <p:spPr>
          <a:xfrm>
            <a:off x="8229600" y="1325880"/>
            <a:ext cx="685800" cy="2560320"/>
          </a:xfrm>
          <a:prstGeom prst="roundRect">
            <a:avLst>
              <a:gd name="adj" fmla="val 13333"/>
            </a:avLst>
          </a:prstGeom>
          <a:solidFill>
            <a:srgbClr val="132040"/>
          </a:solidFill>
          <a:ln w="12700" cap="flat" cmpd="sng">
            <a:solidFill>
              <a:srgbClr val="34D3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3"/>
          <p:cNvSpPr/>
          <p:nvPr/>
        </p:nvSpPr>
        <p:spPr>
          <a:xfrm>
            <a:off x="8229600" y="1325875"/>
            <a:ext cx="727500" cy="256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34D399"/>
                </a:solidFill>
                <a:latin typeface="Calibri"/>
                <a:ea typeface="Calibri"/>
                <a:cs typeface="Calibri"/>
                <a:sym typeface="Calibri"/>
              </a:rPr>
              <a:t>[OK]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SKU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ID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3"/>
          <p:cNvSpPr/>
          <p:nvPr/>
        </p:nvSpPr>
        <p:spPr>
          <a:xfrm>
            <a:off x="1645920" y="4169664"/>
            <a:ext cx="6400800" cy="658368"/>
          </a:xfrm>
          <a:prstGeom prst="roundRect">
            <a:avLst>
              <a:gd name="adj" fmla="val 13889"/>
            </a:avLst>
          </a:prstGeom>
          <a:solidFill>
            <a:srgbClr val="132040"/>
          </a:solidFill>
          <a:ln w="19050" cap="flat" cmpd="sng">
            <a:solidFill>
              <a:srgbClr val="34D3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0" name="Google Shape;150;p3"/>
          <p:cNvSpPr/>
          <p:nvPr/>
        </p:nvSpPr>
        <p:spPr>
          <a:xfrm>
            <a:off x="1783080" y="4224528"/>
            <a:ext cx="61264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100"/>
              <a:buFont typeface="Calibri"/>
              <a:buNone/>
            </a:pPr>
            <a:r>
              <a:rPr lang="en-US" sz="1100" b="0" i="0" u="none" strike="noStrike" cap="none" dirty="0">
                <a:solidFill>
                  <a:srgbClr val="34D399"/>
                </a:solidFill>
                <a:latin typeface="Calibri"/>
                <a:ea typeface="Calibri"/>
                <a:cs typeface="Calibri"/>
                <a:sym typeface="Calibri"/>
              </a:rPr>
              <a:t>known products matched via CLIP embedding. Only unmatched items proceed to </a:t>
            </a:r>
            <a:r>
              <a:rPr lang="en-US" sz="1100" dirty="0">
                <a:solidFill>
                  <a:srgbClr val="34D399"/>
                </a:solidFill>
                <a:latin typeface="Calibri"/>
                <a:ea typeface="Calibri"/>
                <a:cs typeface="Calibri"/>
                <a:sym typeface="Calibri"/>
              </a:rPr>
              <a:t>LLM matching &amp; Manual.</a:t>
            </a: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f3103c3c8f_5_25"/>
          <p:cNvSpPr/>
          <p:nvPr/>
        </p:nvSpPr>
        <p:spPr>
          <a:xfrm>
            <a:off x="411480" y="308610"/>
            <a:ext cx="7200900" cy="4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38"/>
              </a:buClr>
              <a:buSzPts val="2300"/>
              <a:buFont typeface="Cambria"/>
              <a:buNone/>
            </a:pPr>
            <a:r>
              <a:rPr lang="en-US" sz="2300" b="1" dirty="0">
                <a:solidFill>
                  <a:srgbClr val="1B2A38"/>
                </a:solidFill>
                <a:latin typeface="Cambria"/>
                <a:ea typeface="Cambria"/>
                <a:cs typeface="Cambria"/>
                <a:sym typeface="Cambria"/>
              </a:rPr>
              <a:t>Stage 1 — YOLOv8 &amp; Yolov26 Object Detection</a:t>
            </a:r>
            <a:endParaRPr sz="23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g3f3103c3c8f_5_25"/>
          <p:cNvSpPr/>
          <p:nvPr/>
        </p:nvSpPr>
        <p:spPr>
          <a:xfrm>
            <a:off x="411480" y="925830"/>
            <a:ext cx="4114800" cy="9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B2A38"/>
              </a:buClr>
              <a:buSzPts val="1100"/>
              <a:buFont typeface="Calibri"/>
              <a:buNone/>
            </a:pPr>
            <a:r>
              <a:rPr lang="en-US" sz="1100" dirty="0">
                <a:solidFill>
                  <a:srgbClr val="1B2A38"/>
                </a:solidFill>
                <a:latin typeface="Calibri"/>
                <a:ea typeface="Calibri"/>
                <a:cs typeface="Calibri"/>
                <a:sym typeface="Calibri"/>
              </a:rPr>
              <a:t>Fine-tune a YOLOv26n model on SKU110K to localize every product bounding box on a shelf image — a single generic "product" class, independent of brand. </a:t>
            </a: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B2A38"/>
              </a:buClr>
              <a:buSzPts val="1100"/>
              <a:buFont typeface="Calibri"/>
              <a:buNone/>
            </a:pPr>
            <a:r>
              <a:rPr lang="en-US" sz="1100" dirty="0">
                <a:solidFill>
                  <a:srgbClr val="1B2A38"/>
                </a:solidFill>
                <a:latin typeface="Calibri"/>
                <a:ea typeface="Calibri"/>
                <a:cs typeface="Calibri"/>
                <a:sym typeface="Calibri"/>
              </a:rPr>
              <a:t>We ensured that real time some additional stickers are not identified.</a:t>
            </a:r>
            <a:endParaRPr sz="11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58" name="Google Shape;158;g3f3103c3c8f_5_25"/>
          <p:cNvGraphicFramePr/>
          <p:nvPr>
            <p:extLst>
              <p:ext uri="{D42A27DB-BD31-4B8C-83A1-F6EECF244321}">
                <p14:modId xmlns:p14="http://schemas.microsoft.com/office/powerpoint/2010/main" val="2178010415"/>
              </p:ext>
            </p:extLst>
          </p:nvPr>
        </p:nvGraphicFramePr>
        <p:xfrm>
          <a:off x="411480" y="1954530"/>
          <a:ext cx="4114825" cy="1714500"/>
        </p:xfrm>
        <a:graphic>
          <a:graphicData uri="http://schemas.openxmlformats.org/drawingml/2006/table">
            <a:tbl>
              <a:tblPr>
                <a:noFill/>
                <a:tableStyleId>{D8F8A3FB-ECE3-4B66-B9A1-984D36C42418}</a:tableStyleId>
              </a:tblPr>
              <a:tblGrid>
                <a:gridCol w="144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74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Base model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>
                    <a:lnL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B4F6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38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strike="noStrike" cap="none" dirty="0">
                          <a:solidFill>
                            <a:srgbClr val="1B2A3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YOLOv26 — fast, lightweight</a:t>
                      </a:r>
                      <a:endParaRPr sz="9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>
                    <a:lnL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1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Training epochs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>
                    <a:lnL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B4F6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38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>
                          <a:solidFill>
                            <a:srgbClr val="1B2A3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>
                    <a:lnL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1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Training data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>
                    <a:lnL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B4F6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38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strike="noStrike" cap="none">
                          <a:solidFill>
                            <a:srgbClr val="1B2A3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100% of SKU110K train split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>
                    <a:lnL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1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Retrain control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>
                    <a:lnL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B4F6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38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strike="noStrike" cap="none">
                          <a:solidFill>
                            <a:srgbClr val="1B2A3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FORCE_RETRAIN flag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>
                    <a:lnL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1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Skip logic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>
                    <a:lnL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B4F6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38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strike="noStrike" cap="none" dirty="0">
                          <a:solidFill>
                            <a:srgbClr val="1B2A3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Reuses sku110k_best.pt if already trained</a:t>
                      </a:r>
                      <a:endParaRPr sz="9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>
                    <a:lnL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1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59" name="Google Shape;159;g3f3103c3c8f_5_25"/>
          <p:cNvSpPr/>
          <p:nvPr/>
        </p:nvSpPr>
        <p:spPr>
          <a:xfrm>
            <a:off x="4869180" y="925830"/>
            <a:ext cx="3840600" cy="3703200"/>
          </a:xfrm>
          <a:prstGeom prst="roundRect">
            <a:avLst>
              <a:gd name="adj" fmla="val 2222"/>
            </a:avLst>
          </a:prstGeom>
          <a:solidFill>
            <a:srgbClr val="0B2540"/>
          </a:solidFill>
          <a:ln>
            <a:noFill/>
          </a:ln>
          <a:effectLst>
            <a:outerShdw blurRad="76200" dist="28575" dir="2700000" algn="bl" rotWithShape="0">
              <a:srgbClr val="000000">
                <a:alpha val="12160"/>
              </a:srgbClr>
            </a:outerShdw>
          </a:effectLst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g3f3103c3c8f_5_25"/>
          <p:cNvSpPr/>
          <p:nvPr/>
        </p:nvSpPr>
        <p:spPr>
          <a:xfrm>
            <a:off x="5109210" y="1131570"/>
            <a:ext cx="548400" cy="54840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1" name="Google Shape;161;g3f3103c3c8f_5_25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251856" y="1274216"/>
            <a:ext cx="263348" cy="263348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g3f3103c3c8f_5_25"/>
          <p:cNvSpPr/>
          <p:nvPr/>
        </p:nvSpPr>
        <p:spPr>
          <a:xfrm>
            <a:off x="5760720" y="1165860"/>
            <a:ext cx="28119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mbria"/>
              <a:buNone/>
            </a:pPr>
            <a:r>
              <a:rPr lang="en-US" sz="1200" b="1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Why detect first?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g3f3103c3c8f_5_25"/>
          <p:cNvSpPr/>
          <p:nvPr/>
        </p:nvSpPr>
        <p:spPr>
          <a:xfrm>
            <a:off x="5109210" y="1748790"/>
            <a:ext cx="33603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254000" marR="0" lvl="0" indent="-2540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8E9F0"/>
              </a:buClr>
              <a:buSzPts val="1000"/>
              <a:buFont typeface="Calibri"/>
              <a:buChar char="✦"/>
            </a:pPr>
            <a:r>
              <a:rPr lang="en-US" sz="1000">
                <a:solidFill>
                  <a:srgbClr val="D8E9F0"/>
                </a:solidFill>
                <a:latin typeface="Calibri"/>
                <a:ea typeface="Calibri"/>
                <a:cs typeface="Calibri"/>
                <a:sym typeface="Calibri"/>
              </a:rPr>
              <a:t>Shelf images are densely packed — dozens of products per frame.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54000" marR="0" lvl="0" indent="-254000" algn="l" rtl="0"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  <a:buClr>
                <a:srgbClr val="D8E9F0"/>
              </a:buClr>
              <a:buSzPts val="1000"/>
              <a:buFont typeface="Calibri"/>
              <a:buChar char="✦"/>
            </a:pPr>
            <a:r>
              <a:rPr lang="en-US" sz="1000">
                <a:solidFill>
                  <a:srgbClr val="D8E9F0"/>
                </a:solidFill>
                <a:latin typeface="Calibri"/>
                <a:ea typeface="Calibri"/>
                <a:cs typeface="Calibri"/>
                <a:sym typeface="Calibri"/>
              </a:rPr>
              <a:t>A single-class detector generalizes across brands without per-SKU labels.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54000" marR="0" lvl="0" indent="-254000" algn="l" rtl="0"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  <a:buClr>
                <a:srgbClr val="D8E9F0"/>
              </a:buClr>
              <a:buSzPts val="1000"/>
              <a:buFont typeface="Calibri"/>
              <a:buChar char="✦"/>
            </a:pPr>
            <a:r>
              <a:rPr lang="en-US" sz="1000">
                <a:solidFill>
                  <a:srgbClr val="D8E9F0"/>
                </a:solidFill>
                <a:latin typeface="Calibri"/>
                <a:ea typeface="Calibri"/>
                <a:cs typeface="Calibri"/>
                <a:sym typeface="Calibri"/>
              </a:rPr>
              <a:t>Each detected box becomes an isolated crop for the classifier.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4" name="Google Shape;164;g3f3103c3c8f_5_25"/>
          <p:cNvCxnSpPr/>
          <p:nvPr/>
        </p:nvCxnSpPr>
        <p:spPr>
          <a:xfrm>
            <a:off x="5109210" y="3257550"/>
            <a:ext cx="3360300" cy="0"/>
          </a:xfrm>
          <a:prstGeom prst="straightConnector1">
            <a:avLst/>
          </a:prstGeom>
          <a:noFill/>
          <a:ln w="9525" cap="flat" cmpd="sng">
            <a:solidFill>
              <a:srgbClr val="1C7293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5" name="Google Shape;165;g3f3103c3c8f_5_25"/>
          <p:cNvSpPr/>
          <p:nvPr/>
        </p:nvSpPr>
        <p:spPr>
          <a:xfrm>
            <a:off x="5109210" y="3360420"/>
            <a:ext cx="3360300" cy="2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FC7DB"/>
              </a:buClr>
              <a:buSzPts val="1000"/>
              <a:buFont typeface="Calibri"/>
              <a:buNone/>
            </a:pPr>
            <a:r>
              <a:rPr lang="en-US" sz="1000" b="1">
                <a:solidFill>
                  <a:srgbClr val="9FC7DB"/>
                </a:solidFill>
                <a:latin typeface="Calibri"/>
                <a:ea typeface="Calibri"/>
                <a:cs typeface="Calibri"/>
                <a:sym typeface="Calibri"/>
              </a:rPr>
              <a:t>Tunable at inference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g3f3103c3c8f_5_25"/>
          <p:cNvSpPr/>
          <p:nvPr/>
        </p:nvSpPr>
        <p:spPr>
          <a:xfrm>
            <a:off x="5109210" y="3600450"/>
            <a:ext cx="33603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6B4A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F6B4A"/>
                </a:solidFill>
                <a:latin typeface="Courier New"/>
                <a:ea typeface="Courier New"/>
                <a:cs typeface="Courier New"/>
                <a:sym typeface="Courier New"/>
              </a:rPr>
              <a:t>YOLO_CONF = 0.10   •   YOLO_IOU = 0.45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g3f3103c3c8f_5_25"/>
          <p:cNvSpPr/>
          <p:nvPr/>
        </p:nvSpPr>
        <p:spPr>
          <a:xfrm>
            <a:off x="5109210" y="3909060"/>
            <a:ext cx="3360300" cy="54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AFC3CE"/>
              </a:buClr>
              <a:buSzPts val="900"/>
              <a:buFont typeface="Calibri"/>
              <a:buNone/>
            </a:pPr>
            <a:r>
              <a:rPr lang="en-US" sz="900" i="1">
                <a:solidFill>
                  <a:srgbClr val="AFC3CE"/>
                </a:solidFill>
                <a:latin typeface="Calibri"/>
                <a:ea typeface="Calibri"/>
                <a:cs typeface="Calibri"/>
                <a:sym typeface="Calibri"/>
              </a:rPr>
              <a:t>Lower confidence threshold favors recall on small, tightly packed shelf items.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g3f3103c3c8f_5_25"/>
          <p:cNvSpPr/>
          <p:nvPr/>
        </p:nvSpPr>
        <p:spPr>
          <a:xfrm>
            <a:off x="342900" y="4855464"/>
            <a:ext cx="5486400" cy="20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FC3CE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AFC3CE"/>
                </a:solidFill>
                <a:latin typeface="Calibri"/>
                <a:ea typeface="Calibri"/>
                <a:cs typeface="Calibri"/>
                <a:sym typeface="Calibri"/>
              </a:rPr>
              <a:t>Retail Shelf Product Recognition  |  YOLOv8 + CLIP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g3f3103c3c8f_5_25"/>
          <p:cNvSpPr/>
          <p:nvPr/>
        </p:nvSpPr>
        <p:spPr>
          <a:xfrm>
            <a:off x="8435340" y="4855464"/>
            <a:ext cx="342900" cy="20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AFC3CE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AFC3CE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9ADB6B6-1EF6-720D-6153-6DEB42ACCC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046" y="3827090"/>
            <a:ext cx="981212" cy="781159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9491BDBD-50EB-DED3-0180-3A9889B4A5A3}"/>
              </a:ext>
            </a:extLst>
          </p:cNvPr>
          <p:cNvSpPr/>
          <p:nvPr/>
        </p:nvSpPr>
        <p:spPr>
          <a:xfrm>
            <a:off x="1593273" y="4073236"/>
            <a:ext cx="1690254" cy="25630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Real time scenario we eliminated these tags for identification.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B7BA86F-2FDC-AC0A-F729-159C42B7BDD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72765" y="4053490"/>
            <a:ext cx="1663115" cy="7811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f3103c3c8f_5_43"/>
          <p:cNvSpPr/>
          <p:nvPr/>
        </p:nvSpPr>
        <p:spPr>
          <a:xfrm>
            <a:off x="411480" y="308610"/>
            <a:ext cx="6858000" cy="4803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38"/>
              </a:buClr>
              <a:buSzPts val="2300"/>
              <a:buFont typeface="Cambria"/>
              <a:buNone/>
            </a:pPr>
            <a:r>
              <a:rPr lang="en-US" sz="2300" b="1">
                <a:solidFill>
                  <a:srgbClr val="1B2A38"/>
                </a:solidFill>
                <a:latin typeface="Cambria"/>
                <a:ea typeface="Cambria"/>
                <a:cs typeface="Cambria"/>
                <a:sym typeface="Cambria"/>
              </a:rPr>
              <a:t>Stage 1 — Validation Metrics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g3f3103c3c8f_5_43"/>
          <p:cNvSpPr/>
          <p:nvPr/>
        </p:nvSpPr>
        <p:spPr>
          <a:xfrm>
            <a:off x="411480" y="768096"/>
            <a:ext cx="6858000" cy="2742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7280"/>
              </a:buClr>
              <a:buSzPts val="1100"/>
              <a:buFont typeface="Calibri"/>
              <a:buNone/>
            </a:pPr>
            <a:r>
              <a:rPr lang="en-US" sz="1100" i="1">
                <a:solidFill>
                  <a:srgbClr val="5B7280"/>
                </a:solidFill>
                <a:latin typeface="Calibri"/>
                <a:ea typeface="Calibri"/>
                <a:cs typeface="Calibri"/>
                <a:sym typeface="Calibri"/>
              </a:rPr>
              <a:t>Reported automatically by yolo_model.val() after training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g3f3103c3c8f_5_43"/>
          <p:cNvSpPr/>
          <p:nvPr/>
        </p:nvSpPr>
        <p:spPr>
          <a:xfrm>
            <a:off x="411480" y="1303020"/>
            <a:ext cx="1885800" cy="1714500"/>
          </a:xfrm>
          <a:prstGeom prst="roundRect">
            <a:avLst>
              <a:gd name="adj" fmla="val 4000"/>
            </a:avLst>
          </a:prstGeom>
          <a:solidFill>
            <a:srgbClr val="E8F1F5"/>
          </a:solidFill>
          <a:ln>
            <a:noFill/>
          </a:ln>
          <a:effectLst>
            <a:outerShdw blurRad="76200" dist="28575" dir="2700000" algn="bl" rotWithShape="0">
              <a:srgbClr val="000000">
                <a:alpha val="12160"/>
              </a:srgbClr>
            </a:outerShdw>
          </a:effectLst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g3f3103c3c8f_5_43"/>
          <p:cNvSpPr/>
          <p:nvPr/>
        </p:nvSpPr>
        <p:spPr>
          <a:xfrm>
            <a:off x="411480" y="1474470"/>
            <a:ext cx="1885800" cy="6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6B4A"/>
              </a:buClr>
              <a:buSzPts val="2400"/>
              <a:buFont typeface="Cambria"/>
              <a:buNone/>
            </a:pPr>
            <a:r>
              <a:rPr lang="en-US" sz="2400" b="1">
                <a:solidFill>
                  <a:srgbClr val="FF6B4A"/>
                </a:solidFill>
                <a:latin typeface="Cambria"/>
                <a:ea typeface="Cambria"/>
                <a:cs typeface="Cambria"/>
                <a:sym typeface="Cambria"/>
              </a:rPr>
              <a:t>89.70 %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g3f3103c3c8f_5_43"/>
          <p:cNvSpPr/>
          <p:nvPr/>
        </p:nvSpPr>
        <p:spPr>
          <a:xfrm>
            <a:off x="411480" y="2057400"/>
            <a:ext cx="18858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B4F6C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0B4F6C"/>
                </a:solidFill>
                <a:latin typeface="Calibri"/>
                <a:ea typeface="Calibri"/>
                <a:cs typeface="Calibri"/>
                <a:sym typeface="Calibri"/>
              </a:rPr>
              <a:t>mAP@50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g3f3103c3c8f_5_43"/>
          <p:cNvSpPr/>
          <p:nvPr/>
        </p:nvSpPr>
        <p:spPr>
          <a:xfrm>
            <a:off x="514350" y="2331720"/>
            <a:ext cx="1680300" cy="6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7280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5B7280"/>
                </a:solidFill>
                <a:latin typeface="Calibri"/>
                <a:ea typeface="Calibri"/>
                <a:cs typeface="Calibri"/>
                <a:sym typeface="Calibri"/>
              </a:rPr>
              <a:t>Detection accuracy at 50% IoU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g3f3103c3c8f_5_43"/>
          <p:cNvSpPr/>
          <p:nvPr/>
        </p:nvSpPr>
        <p:spPr>
          <a:xfrm>
            <a:off x="2489454" y="1303020"/>
            <a:ext cx="1885800" cy="1714500"/>
          </a:xfrm>
          <a:prstGeom prst="roundRect">
            <a:avLst>
              <a:gd name="adj" fmla="val 4000"/>
            </a:avLst>
          </a:prstGeom>
          <a:solidFill>
            <a:srgbClr val="E8F1F5"/>
          </a:solidFill>
          <a:ln>
            <a:noFill/>
          </a:ln>
          <a:effectLst>
            <a:outerShdw blurRad="76200" dist="28575" dir="2700000" algn="bl" rotWithShape="0">
              <a:srgbClr val="000000">
                <a:alpha val="12160"/>
              </a:srgbClr>
            </a:outerShdw>
          </a:effectLst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g3f3103c3c8f_5_43"/>
          <p:cNvSpPr/>
          <p:nvPr/>
        </p:nvSpPr>
        <p:spPr>
          <a:xfrm>
            <a:off x="2489454" y="1474470"/>
            <a:ext cx="1885800" cy="6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6B4A"/>
              </a:buClr>
              <a:buSzPts val="2400"/>
              <a:buFont typeface="Cambria"/>
              <a:buNone/>
            </a:pPr>
            <a:r>
              <a:rPr lang="en-US" sz="2400" b="1">
                <a:solidFill>
                  <a:srgbClr val="FF6B4A"/>
                </a:solidFill>
                <a:latin typeface="Cambria"/>
                <a:ea typeface="Cambria"/>
                <a:cs typeface="Cambria"/>
                <a:sym typeface="Cambria"/>
              </a:rPr>
              <a:t>54.10 %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g3f3103c3c8f_5_43"/>
          <p:cNvSpPr/>
          <p:nvPr/>
        </p:nvSpPr>
        <p:spPr>
          <a:xfrm>
            <a:off x="2489454" y="2057400"/>
            <a:ext cx="18858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B4F6C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0B4F6C"/>
                </a:solidFill>
                <a:latin typeface="Calibri"/>
                <a:ea typeface="Calibri"/>
                <a:cs typeface="Calibri"/>
                <a:sym typeface="Calibri"/>
              </a:rPr>
              <a:t>mAP@50-95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g3f3103c3c8f_5_43"/>
          <p:cNvSpPr/>
          <p:nvPr/>
        </p:nvSpPr>
        <p:spPr>
          <a:xfrm>
            <a:off x="2592324" y="2331720"/>
            <a:ext cx="1680300" cy="6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7280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5B7280"/>
                </a:solidFill>
                <a:latin typeface="Calibri"/>
                <a:ea typeface="Calibri"/>
                <a:cs typeface="Calibri"/>
                <a:sym typeface="Calibri"/>
              </a:rPr>
              <a:t>Averaged across IoU thresholds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g3f3103c3c8f_5_43"/>
          <p:cNvSpPr/>
          <p:nvPr/>
        </p:nvSpPr>
        <p:spPr>
          <a:xfrm>
            <a:off x="4567428" y="1303020"/>
            <a:ext cx="1885800" cy="1714500"/>
          </a:xfrm>
          <a:prstGeom prst="roundRect">
            <a:avLst>
              <a:gd name="adj" fmla="val 4000"/>
            </a:avLst>
          </a:prstGeom>
          <a:solidFill>
            <a:srgbClr val="E8F1F5"/>
          </a:solidFill>
          <a:ln>
            <a:noFill/>
          </a:ln>
          <a:effectLst>
            <a:outerShdw blurRad="76200" dist="28575" dir="2700000" algn="bl" rotWithShape="0">
              <a:srgbClr val="000000">
                <a:alpha val="12160"/>
              </a:srgbClr>
            </a:outerShdw>
          </a:effectLst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g3f3103c3c8f_5_43"/>
          <p:cNvSpPr/>
          <p:nvPr/>
        </p:nvSpPr>
        <p:spPr>
          <a:xfrm>
            <a:off x="4567428" y="1474470"/>
            <a:ext cx="1885800" cy="6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6B4A"/>
              </a:buClr>
              <a:buSzPts val="2400"/>
              <a:buFont typeface="Cambria"/>
              <a:buNone/>
            </a:pPr>
            <a:r>
              <a:rPr lang="en-US" sz="2400" b="1">
                <a:solidFill>
                  <a:srgbClr val="FF6B4A"/>
                </a:solidFill>
                <a:latin typeface="Cambria"/>
                <a:ea typeface="Cambria"/>
                <a:cs typeface="Cambria"/>
                <a:sym typeface="Cambria"/>
              </a:rPr>
              <a:t>89.59 %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g3f3103c3c8f_5_43"/>
          <p:cNvSpPr/>
          <p:nvPr/>
        </p:nvSpPr>
        <p:spPr>
          <a:xfrm>
            <a:off x="4567428" y="2057400"/>
            <a:ext cx="18858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B4F6C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0B4F6C"/>
                </a:solidFill>
                <a:latin typeface="Calibri"/>
                <a:ea typeface="Calibri"/>
                <a:cs typeface="Calibri"/>
                <a:sym typeface="Calibri"/>
              </a:rPr>
              <a:t>Precision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g3f3103c3c8f_5_43"/>
          <p:cNvSpPr/>
          <p:nvPr/>
        </p:nvSpPr>
        <p:spPr>
          <a:xfrm>
            <a:off x="4670298" y="2331720"/>
            <a:ext cx="1680300" cy="6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7280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5B7280"/>
                </a:solidFill>
                <a:latin typeface="Calibri"/>
                <a:ea typeface="Calibri"/>
                <a:cs typeface="Calibri"/>
                <a:sym typeface="Calibri"/>
              </a:rPr>
              <a:t>Share of detections that are correct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g3f3103c3c8f_5_43"/>
          <p:cNvSpPr/>
          <p:nvPr/>
        </p:nvSpPr>
        <p:spPr>
          <a:xfrm>
            <a:off x="6645402" y="1303020"/>
            <a:ext cx="1885800" cy="1714500"/>
          </a:xfrm>
          <a:prstGeom prst="roundRect">
            <a:avLst>
              <a:gd name="adj" fmla="val 4000"/>
            </a:avLst>
          </a:prstGeom>
          <a:solidFill>
            <a:srgbClr val="E8F1F5"/>
          </a:solidFill>
          <a:ln>
            <a:noFill/>
          </a:ln>
          <a:effectLst>
            <a:outerShdw blurRad="76200" dist="28575" dir="2700000" algn="bl" rotWithShape="0">
              <a:srgbClr val="000000">
                <a:alpha val="12160"/>
              </a:srgbClr>
            </a:outerShdw>
          </a:effectLst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g3f3103c3c8f_5_43"/>
          <p:cNvSpPr/>
          <p:nvPr/>
        </p:nvSpPr>
        <p:spPr>
          <a:xfrm>
            <a:off x="6645402" y="1474470"/>
            <a:ext cx="1885800" cy="6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6B4A"/>
              </a:buClr>
              <a:buSzPts val="2400"/>
              <a:buFont typeface="Cambria"/>
              <a:buNone/>
            </a:pPr>
            <a:r>
              <a:rPr lang="en-US" sz="2400" b="1">
                <a:solidFill>
                  <a:srgbClr val="FF6B4A"/>
                </a:solidFill>
                <a:latin typeface="Cambria"/>
                <a:ea typeface="Cambria"/>
                <a:cs typeface="Cambria"/>
                <a:sym typeface="Cambria"/>
              </a:rPr>
              <a:t>83.77 %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g3f3103c3c8f_5_43"/>
          <p:cNvSpPr/>
          <p:nvPr/>
        </p:nvSpPr>
        <p:spPr>
          <a:xfrm>
            <a:off x="6645402" y="2057400"/>
            <a:ext cx="18858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B4F6C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0B4F6C"/>
                </a:solidFill>
                <a:latin typeface="Calibri"/>
                <a:ea typeface="Calibri"/>
                <a:cs typeface="Calibri"/>
                <a:sym typeface="Calibri"/>
              </a:rPr>
              <a:t>Recall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g3f3103c3c8f_5_43"/>
          <p:cNvSpPr/>
          <p:nvPr/>
        </p:nvSpPr>
        <p:spPr>
          <a:xfrm>
            <a:off x="6748272" y="2331720"/>
            <a:ext cx="1680300" cy="6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7280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5B7280"/>
                </a:solidFill>
                <a:latin typeface="Calibri"/>
                <a:ea typeface="Calibri"/>
                <a:cs typeface="Calibri"/>
                <a:sym typeface="Calibri"/>
              </a:rPr>
              <a:t>Share of true products detected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g3f3103c3c8f_5_43"/>
          <p:cNvSpPr/>
          <p:nvPr/>
        </p:nvSpPr>
        <p:spPr>
          <a:xfrm>
            <a:off x="582930" y="3415284"/>
            <a:ext cx="480300" cy="4803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g3f3103c3c8f_5_43"/>
          <p:cNvSpPr/>
          <p:nvPr/>
        </p:nvSpPr>
        <p:spPr>
          <a:xfrm>
            <a:off x="342900" y="4855464"/>
            <a:ext cx="5486400" cy="20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FC3CE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AFC3CE"/>
                </a:solidFill>
                <a:latin typeface="Calibri"/>
                <a:ea typeface="Calibri"/>
                <a:cs typeface="Calibri"/>
                <a:sym typeface="Calibri"/>
              </a:rPr>
              <a:t>Retail Shelf Product Recognition  |  YOLOv8 + CLIP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g3f3103c3c8f_5_43"/>
          <p:cNvSpPr/>
          <p:nvPr/>
        </p:nvSpPr>
        <p:spPr>
          <a:xfrm>
            <a:off x="8435340" y="4855464"/>
            <a:ext cx="342900" cy="20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AFC3CE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AFC3CE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f3103c3c8f_5_68"/>
          <p:cNvSpPr/>
          <p:nvPr/>
        </p:nvSpPr>
        <p:spPr>
          <a:xfrm>
            <a:off x="370774" y="251629"/>
            <a:ext cx="7200900" cy="4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38"/>
              </a:buClr>
              <a:buSzPts val="2300"/>
              <a:buFont typeface="Cambria"/>
              <a:buNone/>
            </a:pPr>
            <a:r>
              <a:rPr lang="en-US" sz="2300" b="1" dirty="0">
                <a:solidFill>
                  <a:srgbClr val="1B2A38"/>
                </a:solidFill>
                <a:latin typeface="Cambria"/>
                <a:ea typeface="Cambria"/>
                <a:cs typeface="Cambria"/>
                <a:sym typeface="Cambria"/>
              </a:rPr>
              <a:t>Stage 1 — Output Screenshot</a:t>
            </a:r>
            <a:endParaRPr sz="23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DF191B3-C467-0CBF-9113-E1AB55EB0D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600" y="731929"/>
            <a:ext cx="8636091" cy="368074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5"/>
          <p:cNvSpPr/>
          <p:nvPr/>
        </p:nvSpPr>
        <p:spPr>
          <a:xfrm>
            <a:off x="365760" y="201168"/>
            <a:ext cx="1188720" cy="438912"/>
          </a:xfrm>
          <a:prstGeom prst="roundRect">
            <a:avLst>
              <a:gd name="adj" fmla="val 16667"/>
            </a:avLst>
          </a:prstGeom>
          <a:solidFill>
            <a:srgbClr val="F59E0B"/>
          </a:solidFill>
          <a:ln w="12700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p5"/>
          <p:cNvSpPr/>
          <p:nvPr/>
        </p:nvSpPr>
        <p:spPr>
          <a:xfrm>
            <a:off x="365760" y="201168"/>
            <a:ext cx="118872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STAGE 2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5"/>
          <p:cNvSpPr/>
          <p:nvPr/>
        </p:nvSpPr>
        <p:spPr>
          <a:xfrm>
            <a:off x="1691640" y="201168"/>
            <a:ext cx="713232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CLIP Category Classification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5"/>
          <p:cNvSpPr/>
          <p:nvPr/>
        </p:nvSpPr>
        <p:spPr>
          <a:xfrm>
            <a:off x="365760" y="822960"/>
            <a:ext cx="41148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How CLIP Classifies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5"/>
          <p:cNvSpPr/>
          <p:nvPr/>
        </p:nvSpPr>
        <p:spPr>
          <a:xfrm>
            <a:off x="365760" y="1298448"/>
            <a:ext cx="1463040" cy="658368"/>
          </a:xfrm>
          <a:prstGeom prst="roundRect">
            <a:avLst>
              <a:gd name="adj" fmla="val 13889"/>
            </a:avLst>
          </a:prstGeom>
          <a:solidFill>
            <a:srgbClr val="132040"/>
          </a:solidFill>
          <a:ln w="19050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5"/>
          <p:cNvSpPr/>
          <p:nvPr/>
        </p:nvSpPr>
        <p:spPr>
          <a:xfrm>
            <a:off x="365760" y="1298448"/>
            <a:ext cx="146304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Crop Image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5"/>
          <p:cNvSpPr/>
          <p:nvPr/>
        </p:nvSpPr>
        <p:spPr>
          <a:xfrm>
            <a:off x="1828800" y="1508760"/>
            <a:ext cx="320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alibri"/>
              <a:buNone/>
            </a:pPr>
            <a:r>
              <a:rPr lang="en-US" sz="16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-&gt;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5"/>
          <p:cNvSpPr/>
          <p:nvPr/>
        </p:nvSpPr>
        <p:spPr>
          <a:xfrm>
            <a:off x="2148840" y="1298448"/>
            <a:ext cx="1463040" cy="658368"/>
          </a:xfrm>
          <a:prstGeom prst="roundRect">
            <a:avLst>
              <a:gd name="adj" fmla="val 13889"/>
            </a:avLst>
          </a:prstGeom>
          <a:solidFill>
            <a:srgbClr val="132040"/>
          </a:solidFill>
          <a:ln w="19050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5"/>
          <p:cNvSpPr/>
          <p:nvPr/>
        </p:nvSpPr>
        <p:spPr>
          <a:xfrm>
            <a:off x="2148840" y="1298448"/>
            <a:ext cx="146304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Image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Encoder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5"/>
          <p:cNvSpPr/>
          <p:nvPr/>
        </p:nvSpPr>
        <p:spPr>
          <a:xfrm>
            <a:off x="3611880" y="1517904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-&gt; embedding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5"/>
          <p:cNvSpPr/>
          <p:nvPr/>
        </p:nvSpPr>
        <p:spPr>
          <a:xfrm>
            <a:off x="365760" y="2286000"/>
            <a:ext cx="1463040" cy="658368"/>
          </a:xfrm>
          <a:prstGeom prst="roundRect">
            <a:avLst>
              <a:gd name="adj" fmla="val 13889"/>
            </a:avLst>
          </a:prstGeom>
          <a:solidFill>
            <a:srgbClr val="132040"/>
          </a:solidFill>
          <a:ln w="12700" cap="flat" cmpd="sng">
            <a:solidFill>
              <a:srgbClr val="94A3B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p5"/>
          <p:cNvSpPr/>
          <p:nvPr/>
        </p:nvSpPr>
        <p:spPr>
          <a:xfrm>
            <a:off x="365760" y="2286000"/>
            <a:ext cx="146304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38 x 4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Prompts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5"/>
          <p:cNvSpPr/>
          <p:nvPr/>
        </p:nvSpPr>
        <p:spPr>
          <a:xfrm>
            <a:off x="1828800" y="2496312"/>
            <a:ext cx="320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alibri"/>
              <a:buNone/>
            </a:pPr>
            <a:r>
              <a:rPr lang="en-US" sz="16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-&gt;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5"/>
          <p:cNvSpPr/>
          <p:nvPr/>
        </p:nvSpPr>
        <p:spPr>
          <a:xfrm>
            <a:off x="2148840" y="2286000"/>
            <a:ext cx="1463040" cy="658368"/>
          </a:xfrm>
          <a:prstGeom prst="roundRect">
            <a:avLst>
              <a:gd name="adj" fmla="val 13889"/>
            </a:avLst>
          </a:prstGeom>
          <a:solidFill>
            <a:srgbClr val="132040"/>
          </a:solidFill>
          <a:ln w="12700" cap="flat" cmpd="sng">
            <a:solidFill>
              <a:srgbClr val="94A3B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p5"/>
          <p:cNvSpPr/>
          <p:nvPr/>
        </p:nvSpPr>
        <p:spPr>
          <a:xfrm>
            <a:off x="2148840" y="2286000"/>
            <a:ext cx="146304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Text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Encoder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5"/>
          <p:cNvSpPr/>
          <p:nvPr/>
        </p:nvSpPr>
        <p:spPr>
          <a:xfrm>
            <a:off x="3611880" y="2505456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-&gt; embedding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5"/>
          <p:cNvSpPr/>
          <p:nvPr/>
        </p:nvSpPr>
        <p:spPr>
          <a:xfrm>
            <a:off x="365760" y="3108960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cosine similarity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5"/>
          <p:cNvSpPr/>
          <p:nvPr/>
        </p:nvSpPr>
        <p:spPr>
          <a:xfrm>
            <a:off x="365760" y="3493008"/>
            <a:ext cx="4114800" cy="594360"/>
          </a:xfrm>
          <a:prstGeom prst="roundRect">
            <a:avLst>
              <a:gd name="adj" fmla="val 15385"/>
            </a:avLst>
          </a:prstGeom>
          <a:solidFill>
            <a:srgbClr val="F59E0B"/>
          </a:solidFill>
          <a:ln w="12700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5"/>
          <p:cNvSpPr/>
          <p:nvPr/>
        </p:nvSpPr>
        <p:spPr>
          <a:xfrm>
            <a:off x="365760" y="3493008"/>
            <a:ext cx="41148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Best Category Match  (e.g. Beverages: 0.91)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5"/>
          <p:cNvSpPr/>
          <p:nvPr/>
        </p:nvSpPr>
        <p:spPr>
          <a:xfrm>
            <a:off x="4754880" y="822960"/>
            <a:ext cx="41148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38 Product Categories  x  4 Prompts Each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5"/>
          <p:cNvSpPr/>
          <p:nvPr/>
        </p:nvSpPr>
        <p:spPr>
          <a:xfrm>
            <a:off x="4754880" y="1298448"/>
            <a:ext cx="1920240" cy="475488"/>
          </a:xfrm>
          <a:prstGeom prst="roundRect">
            <a:avLst>
              <a:gd name="adj" fmla="val 15385"/>
            </a:avLst>
          </a:prstGeom>
          <a:solidFill>
            <a:srgbClr val="132040"/>
          </a:solidFill>
          <a:ln w="12700" cap="flat" cmpd="sng">
            <a:solidFill>
              <a:srgbClr val="1A2B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" name="Google Shape;229;p5"/>
          <p:cNvSpPr/>
          <p:nvPr/>
        </p:nvSpPr>
        <p:spPr>
          <a:xfrm>
            <a:off x="4754880" y="1298448"/>
            <a:ext cx="192024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Beverages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5"/>
          <p:cNvSpPr/>
          <p:nvPr/>
        </p:nvSpPr>
        <p:spPr>
          <a:xfrm>
            <a:off x="6858000" y="1298448"/>
            <a:ext cx="1920240" cy="475488"/>
          </a:xfrm>
          <a:prstGeom prst="roundRect">
            <a:avLst>
              <a:gd name="adj" fmla="val 15385"/>
            </a:avLst>
          </a:prstGeom>
          <a:solidFill>
            <a:srgbClr val="132040"/>
          </a:solidFill>
          <a:ln w="12700" cap="flat" cmpd="sng">
            <a:solidFill>
              <a:srgbClr val="1A2B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" name="Google Shape;231;p5"/>
          <p:cNvSpPr/>
          <p:nvPr/>
        </p:nvSpPr>
        <p:spPr>
          <a:xfrm>
            <a:off x="6858000" y="1298448"/>
            <a:ext cx="192024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Snacks &amp; Chips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5"/>
          <p:cNvSpPr/>
          <p:nvPr/>
        </p:nvSpPr>
        <p:spPr>
          <a:xfrm>
            <a:off x="4754880" y="1892808"/>
            <a:ext cx="1920240" cy="475488"/>
          </a:xfrm>
          <a:prstGeom prst="roundRect">
            <a:avLst>
              <a:gd name="adj" fmla="val 15385"/>
            </a:avLst>
          </a:prstGeom>
          <a:solidFill>
            <a:srgbClr val="132040"/>
          </a:solidFill>
          <a:ln w="12700" cap="flat" cmpd="sng">
            <a:solidFill>
              <a:srgbClr val="1A2B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p5"/>
          <p:cNvSpPr/>
          <p:nvPr/>
        </p:nvSpPr>
        <p:spPr>
          <a:xfrm>
            <a:off x="4754880" y="1892808"/>
            <a:ext cx="192024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Dairy Products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5"/>
          <p:cNvSpPr/>
          <p:nvPr/>
        </p:nvSpPr>
        <p:spPr>
          <a:xfrm>
            <a:off x="6858000" y="1892808"/>
            <a:ext cx="1920240" cy="475488"/>
          </a:xfrm>
          <a:prstGeom prst="roundRect">
            <a:avLst>
              <a:gd name="adj" fmla="val 15385"/>
            </a:avLst>
          </a:prstGeom>
          <a:solidFill>
            <a:srgbClr val="132040"/>
          </a:solidFill>
          <a:ln w="12700" cap="flat" cmpd="sng">
            <a:solidFill>
              <a:srgbClr val="1A2B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5"/>
          <p:cNvSpPr/>
          <p:nvPr/>
        </p:nvSpPr>
        <p:spPr>
          <a:xfrm>
            <a:off x="6858000" y="1892808"/>
            <a:ext cx="192024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Cereals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5"/>
          <p:cNvSpPr/>
          <p:nvPr/>
        </p:nvSpPr>
        <p:spPr>
          <a:xfrm>
            <a:off x="4754880" y="2487168"/>
            <a:ext cx="1920240" cy="475488"/>
          </a:xfrm>
          <a:prstGeom prst="roundRect">
            <a:avLst>
              <a:gd name="adj" fmla="val 15385"/>
            </a:avLst>
          </a:prstGeom>
          <a:solidFill>
            <a:srgbClr val="132040"/>
          </a:solidFill>
          <a:ln w="12700" cap="flat" cmpd="sng">
            <a:solidFill>
              <a:srgbClr val="1A2B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" name="Google Shape;237;p5"/>
          <p:cNvSpPr/>
          <p:nvPr/>
        </p:nvSpPr>
        <p:spPr>
          <a:xfrm>
            <a:off x="4754880" y="2487168"/>
            <a:ext cx="192024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Personal Care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5"/>
          <p:cNvSpPr/>
          <p:nvPr/>
        </p:nvSpPr>
        <p:spPr>
          <a:xfrm>
            <a:off x="6858000" y="2487168"/>
            <a:ext cx="1920240" cy="475488"/>
          </a:xfrm>
          <a:prstGeom prst="roundRect">
            <a:avLst>
              <a:gd name="adj" fmla="val 15385"/>
            </a:avLst>
          </a:prstGeom>
          <a:solidFill>
            <a:srgbClr val="132040"/>
          </a:solidFill>
          <a:ln w="12700" cap="flat" cmpd="sng">
            <a:solidFill>
              <a:srgbClr val="1A2B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" name="Google Shape;239;p5"/>
          <p:cNvSpPr/>
          <p:nvPr/>
        </p:nvSpPr>
        <p:spPr>
          <a:xfrm>
            <a:off x="6858000" y="2487168"/>
            <a:ext cx="192024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Cleaning Supplies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5"/>
          <p:cNvSpPr/>
          <p:nvPr/>
        </p:nvSpPr>
        <p:spPr>
          <a:xfrm>
            <a:off x="4754880" y="3081528"/>
            <a:ext cx="1920240" cy="475488"/>
          </a:xfrm>
          <a:prstGeom prst="roundRect">
            <a:avLst>
              <a:gd name="adj" fmla="val 15385"/>
            </a:avLst>
          </a:prstGeom>
          <a:solidFill>
            <a:srgbClr val="132040"/>
          </a:solidFill>
          <a:ln w="12700" cap="flat" cmpd="sng">
            <a:solidFill>
              <a:srgbClr val="1A2B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" name="Google Shape;241;p5"/>
          <p:cNvSpPr/>
          <p:nvPr/>
        </p:nvSpPr>
        <p:spPr>
          <a:xfrm>
            <a:off x="4754880" y="3081528"/>
            <a:ext cx="192024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Frozen Foods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5"/>
          <p:cNvSpPr/>
          <p:nvPr/>
        </p:nvSpPr>
        <p:spPr>
          <a:xfrm>
            <a:off x="6858000" y="3081528"/>
            <a:ext cx="1920240" cy="475488"/>
          </a:xfrm>
          <a:prstGeom prst="roundRect">
            <a:avLst>
              <a:gd name="adj" fmla="val 15385"/>
            </a:avLst>
          </a:prstGeom>
          <a:solidFill>
            <a:srgbClr val="132040"/>
          </a:solidFill>
          <a:ln w="12700" cap="flat" cmpd="sng">
            <a:solidFill>
              <a:srgbClr val="1A2B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p5"/>
          <p:cNvSpPr/>
          <p:nvPr/>
        </p:nvSpPr>
        <p:spPr>
          <a:xfrm>
            <a:off x="6858000" y="3081528"/>
            <a:ext cx="192024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Condiments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5"/>
          <p:cNvSpPr/>
          <p:nvPr/>
        </p:nvSpPr>
        <p:spPr>
          <a:xfrm>
            <a:off x="4754880" y="3675888"/>
            <a:ext cx="1920240" cy="475488"/>
          </a:xfrm>
          <a:prstGeom prst="roundRect">
            <a:avLst>
              <a:gd name="adj" fmla="val 15385"/>
            </a:avLst>
          </a:prstGeom>
          <a:solidFill>
            <a:srgbClr val="132040"/>
          </a:solidFill>
          <a:ln w="12700" cap="flat" cmpd="sng">
            <a:solidFill>
              <a:srgbClr val="1A2B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p5"/>
          <p:cNvSpPr/>
          <p:nvPr/>
        </p:nvSpPr>
        <p:spPr>
          <a:xfrm>
            <a:off x="4754880" y="3675888"/>
            <a:ext cx="192024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Bakery Items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5"/>
          <p:cNvSpPr/>
          <p:nvPr/>
        </p:nvSpPr>
        <p:spPr>
          <a:xfrm>
            <a:off x="6858000" y="3675888"/>
            <a:ext cx="1920240" cy="475488"/>
          </a:xfrm>
          <a:prstGeom prst="roundRect">
            <a:avLst>
              <a:gd name="adj" fmla="val 15385"/>
            </a:avLst>
          </a:prstGeom>
          <a:solidFill>
            <a:srgbClr val="132040"/>
          </a:solidFill>
          <a:ln w="12700" cap="flat" cmpd="sng">
            <a:solidFill>
              <a:srgbClr val="1A2B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" name="Google Shape;247;p5"/>
          <p:cNvSpPr/>
          <p:nvPr/>
        </p:nvSpPr>
        <p:spPr>
          <a:xfrm>
            <a:off x="6858000" y="3675888"/>
            <a:ext cx="192024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Candy &amp; Chocolate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5"/>
          <p:cNvSpPr/>
          <p:nvPr/>
        </p:nvSpPr>
        <p:spPr>
          <a:xfrm>
            <a:off x="4754880" y="4343400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+ more categories  (extensible by editing PRODUCT_CATEGORIES)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6"/>
          <p:cNvSpPr/>
          <p:nvPr/>
        </p:nvSpPr>
        <p:spPr>
          <a:xfrm>
            <a:off x="365760" y="201168"/>
            <a:ext cx="1188720" cy="438912"/>
          </a:xfrm>
          <a:prstGeom prst="roundRect">
            <a:avLst>
              <a:gd name="adj" fmla="val 16667"/>
            </a:avLst>
          </a:prstGeom>
          <a:solidFill>
            <a:srgbClr val="34D399"/>
          </a:solidFill>
          <a:ln w="12700" cap="flat" cmpd="sng">
            <a:solidFill>
              <a:srgbClr val="34D3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" name="Google Shape;255;p6"/>
          <p:cNvSpPr/>
          <p:nvPr/>
        </p:nvSpPr>
        <p:spPr>
          <a:xfrm>
            <a:off x="365760" y="201168"/>
            <a:ext cx="118872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STAGE 3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6"/>
          <p:cNvSpPr/>
          <p:nvPr/>
        </p:nvSpPr>
        <p:spPr>
          <a:xfrm>
            <a:off x="1691640" y="201168"/>
            <a:ext cx="713232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CLIP SKU Library Matching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6"/>
          <p:cNvSpPr/>
          <p:nvPr/>
        </p:nvSpPr>
        <p:spPr>
          <a:xfrm>
            <a:off x="365760" y="822960"/>
            <a:ext cx="84124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How Library Matching Works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6"/>
          <p:cNvSpPr/>
          <p:nvPr/>
        </p:nvSpPr>
        <p:spPr>
          <a:xfrm>
            <a:off x="274320" y="1353312"/>
            <a:ext cx="1554480" cy="2377440"/>
          </a:xfrm>
          <a:prstGeom prst="roundRect">
            <a:avLst>
              <a:gd name="adj" fmla="val 5882"/>
            </a:avLst>
          </a:prstGeom>
          <a:solidFill>
            <a:srgbClr val="132040"/>
          </a:solidFill>
          <a:ln w="25400" cap="flat" cmpd="sng">
            <a:solidFill>
              <a:srgbClr val="34D399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27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p6"/>
          <p:cNvSpPr/>
          <p:nvPr/>
        </p:nvSpPr>
        <p:spPr>
          <a:xfrm>
            <a:off x="274320" y="1353312"/>
            <a:ext cx="1554480" cy="2377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34D399"/>
                </a:solidFill>
                <a:latin typeface="Calibri"/>
                <a:ea typeface="Calibri"/>
                <a:cs typeface="Calibri"/>
                <a:sym typeface="Calibri"/>
              </a:rPr>
              <a:t>[SEARCH]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Query Crop</a:t>
            </a:r>
            <a:b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CLIP encoder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-&gt; 512-dim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vector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6"/>
          <p:cNvSpPr/>
          <p:nvPr/>
        </p:nvSpPr>
        <p:spPr>
          <a:xfrm>
            <a:off x="1828800" y="237744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2200"/>
              <a:buFont typeface="Calibri"/>
              <a:buNone/>
            </a:pPr>
            <a:r>
              <a:rPr lang="en-US" sz="22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-&gt;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6"/>
          <p:cNvSpPr/>
          <p:nvPr/>
        </p:nvSpPr>
        <p:spPr>
          <a:xfrm>
            <a:off x="2194560" y="1353312"/>
            <a:ext cx="3017520" cy="2377440"/>
          </a:xfrm>
          <a:prstGeom prst="roundRect">
            <a:avLst>
              <a:gd name="adj" fmla="val 3846"/>
            </a:avLst>
          </a:prstGeom>
          <a:solidFill>
            <a:srgbClr val="132040"/>
          </a:solidFill>
          <a:ln w="19050" cap="flat" cmpd="sng">
            <a:solidFill>
              <a:srgbClr val="1A2B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" name="Google Shape;262;p6"/>
          <p:cNvSpPr/>
          <p:nvPr/>
        </p:nvSpPr>
        <p:spPr>
          <a:xfrm>
            <a:off x="2331720" y="1444752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Product Library (DB)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6"/>
          <p:cNvSpPr/>
          <p:nvPr/>
        </p:nvSpPr>
        <p:spPr>
          <a:xfrm>
            <a:off x="2286000" y="1920240"/>
            <a:ext cx="2834640" cy="365760"/>
          </a:xfrm>
          <a:prstGeom prst="roundRect">
            <a:avLst>
              <a:gd name="adj" fmla="val 15000"/>
            </a:avLst>
          </a:prstGeom>
          <a:solidFill>
            <a:srgbClr val="1A2B4A"/>
          </a:solidFill>
          <a:ln w="12700" cap="flat" cmpd="sng">
            <a:solidFill>
              <a:srgbClr val="1A2B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" name="Google Shape;264;p6"/>
          <p:cNvSpPr/>
          <p:nvPr/>
        </p:nvSpPr>
        <p:spPr>
          <a:xfrm>
            <a:off x="2340864" y="1947672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Courier New"/>
              <a:buNone/>
            </a:pPr>
            <a:r>
              <a:rPr lang="en-US" sz="1000" b="0" i="0" u="none" strike="noStrike" cap="none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rPr>
              <a:t>Pepsi 500ml   [0.23, 0.87 ...]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6"/>
          <p:cNvSpPr/>
          <p:nvPr/>
        </p:nvSpPr>
        <p:spPr>
          <a:xfrm>
            <a:off x="2286000" y="2359152"/>
            <a:ext cx="2834640" cy="365760"/>
          </a:xfrm>
          <a:prstGeom prst="roundRect">
            <a:avLst>
              <a:gd name="adj" fmla="val 15000"/>
            </a:avLst>
          </a:prstGeom>
          <a:solidFill>
            <a:srgbClr val="1A2B4A"/>
          </a:solidFill>
          <a:ln w="12700" cap="flat" cmpd="sng">
            <a:solidFill>
              <a:srgbClr val="1A2B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" name="Google Shape;266;p6"/>
          <p:cNvSpPr/>
          <p:nvPr/>
        </p:nvSpPr>
        <p:spPr>
          <a:xfrm>
            <a:off x="2340864" y="2386584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Courier New"/>
              <a:buNone/>
            </a:pPr>
            <a:r>
              <a:rPr lang="en-US" sz="1000" b="0" i="0" u="none" strike="noStrike" cap="none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rPr>
              <a:t>Coke 330ml    [0.91, 0.12 ...]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6"/>
          <p:cNvSpPr/>
          <p:nvPr/>
        </p:nvSpPr>
        <p:spPr>
          <a:xfrm>
            <a:off x="2286000" y="2798064"/>
            <a:ext cx="2834640" cy="365760"/>
          </a:xfrm>
          <a:prstGeom prst="roundRect">
            <a:avLst>
              <a:gd name="adj" fmla="val 15000"/>
            </a:avLst>
          </a:prstGeom>
          <a:solidFill>
            <a:srgbClr val="1A2B4A"/>
          </a:solidFill>
          <a:ln w="12700" cap="flat" cmpd="sng">
            <a:solidFill>
              <a:srgbClr val="1A2B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" name="Google Shape;268;p6"/>
          <p:cNvSpPr/>
          <p:nvPr/>
        </p:nvSpPr>
        <p:spPr>
          <a:xfrm>
            <a:off x="2340864" y="2825496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Courier New"/>
              <a:buNone/>
            </a:pPr>
            <a:r>
              <a:rPr lang="en-US" sz="1000" b="0" i="0" u="none" strike="noStrike" cap="none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rPr>
              <a:t>Lays BBQ 80g  [0.45, 0.63 ...]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6"/>
          <p:cNvSpPr/>
          <p:nvPr/>
        </p:nvSpPr>
        <p:spPr>
          <a:xfrm>
            <a:off x="2286000" y="3236976"/>
            <a:ext cx="2834640" cy="365760"/>
          </a:xfrm>
          <a:prstGeom prst="roundRect">
            <a:avLst>
              <a:gd name="adj" fmla="val 15000"/>
            </a:avLst>
          </a:prstGeom>
          <a:solidFill>
            <a:srgbClr val="1A2B4A"/>
          </a:solidFill>
          <a:ln w="12700" cap="flat" cmpd="sng">
            <a:solidFill>
              <a:srgbClr val="1A2B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0" name="Google Shape;270;p6"/>
          <p:cNvSpPr/>
          <p:nvPr/>
        </p:nvSpPr>
        <p:spPr>
          <a:xfrm>
            <a:off x="2340864" y="3264408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Courier New"/>
              <a:buNone/>
            </a:pPr>
            <a:r>
              <a:rPr lang="en-US" sz="1000" b="0" i="0" u="none" strike="noStrike" cap="none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rPr>
              <a:t>Oreo 200g     [0.71, 0.34 ...]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6"/>
          <p:cNvSpPr/>
          <p:nvPr/>
        </p:nvSpPr>
        <p:spPr>
          <a:xfrm>
            <a:off x="2331720" y="365760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Each row = one reference image + CLIP embedding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6"/>
          <p:cNvSpPr/>
          <p:nvPr/>
        </p:nvSpPr>
        <p:spPr>
          <a:xfrm>
            <a:off x="5212080" y="237744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2200"/>
              <a:buFont typeface="Calibri"/>
              <a:buNone/>
            </a:pPr>
            <a:r>
              <a:rPr lang="en-US" sz="22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-&gt;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6"/>
          <p:cNvSpPr/>
          <p:nvPr/>
        </p:nvSpPr>
        <p:spPr>
          <a:xfrm>
            <a:off x="5577840" y="1353312"/>
            <a:ext cx="1920240" cy="1005840"/>
          </a:xfrm>
          <a:prstGeom prst="roundRect">
            <a:avLst>
              <a:gd name="adj" fmla="val 9091"/>
            </a:avLst>
          </a:prstGeom>
          <a:solidFill>
            <a:srgbClr val="132040"/>
          </a:solidFill>
          <a:ln w="12700" cap="flat" cmpd="sng">
            <a:solidFill>
              <a:srgbClr val="94A3B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" name="Google Shape;274;p6"/>
          <p:cNvSpPr/>
          <p:nvPr/>
        </p:nvSpPr>
        <p:spPr>
          <a:xfrm>
            <a:off x="5577840" y="1353312"/>
            <a:ext cx="192024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Cosine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Similarity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6"/>
          <p:cNvSpPr/>
          <p:nvPr/>
        </p:nvSpPr>
        <p:spPr>
          <a:xfrm>
            <a:off x="6309360" y="2432304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2000"/>
              <a:buFont typeface="Calibri"/>
              <a:buNone/>
            </a:pPr>
            <a:r>
              <a:rPr lang="en-US" sz="20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v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6"/>
          <p:cNvSpPr/>
          <p:nvPr/>
        </p:nvSpPr>
        <p:spPr>
          <a:xfrm>
            <a:off x="5577840" y="2852928"/>
            <a:ext cx="1920240" cy="640080"/>
          </a:xfrm>
          <a:prstGeom prst="roundRect">
            <a:avLst>
              <a:gd name="adj" fmla="val 11429"/>
            </a:avLst>
          </a:prstGeom>
          <a:solidFill>
            <a:srgbClr val="132040"/>
          </a:solidFill>
          <a:ln w="127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7" name="Google Shape;277;p6"/>
          <p:cNvSpPr/>
          <p:nvPr/>
        </p:nvSpPr>
        <p:spPr>
          <a:xfrm>
            <a:off x="5577840" y="2852928"/>
            <a:ext cx="19202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Score &gt;= 0.82?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6"/>
          <p:cNvSpPr/>
          <p:nvPr/>
        </p:nvSpPr>
        <p:spPr>
          <a:xfrm>
            <a:off x="5577840" y="3611880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34D399"/>
                </a:solidFill>
                <a:latin typeface="Calibri"/>
                <a:ea typeface="Calibri"/>
                <a:cs typeface="Calibri"/>
                <a:sym typeface="Calibri"/>
              </a:rPr>
              <a:t>[OK] Yes -&gt; SKU matched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6"/>
          <p:cNvSpPr/>
          <p:nvPr/>
        </p:nvSpPr>
        <p:spPr>
          <a:xfrm>
            <a:off x="5577840" y="4005072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[&gt;&gt;] No  -&gt; forward to Stage 2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6"/>
          <p:cNvSpPr/>
          <p:nvPr/>
        </p:nvSpPr>
        <p:spPr>
          <a:xfrm>
            <a:off x="274320" y="4480560"/>
            <a:ext cx="8641080" cy="438912"/>
          </a:xfrm>
          <a:prstGeom prst="roundRect">
            <a:avLst>
              <a:gd name="adj" fmla="val 16667"/>
            </a:avLst>
          </a:prstGeom>
          <a:solidFill>
            <a:srgbClr val="132040"/>
          </a:solidFill>
          <a:ln w="19050" cap="flat" cmpd="sng">
            <a:solidFill>
              <a:srgbClr val="34D3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1" name="Google Shape;281;p6"/>
          <p:cNvSpPr/>
          <p:nvPr/>
        </p:nvSpPr>
        <p:spPr>
          <a:xfrm>
            <a:off x="411480" y="4526280"/>
            <a:ext cx="83667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34D399"/>
                </a:solidFill>
                <a:latin typeface="Calibri"/>
                <a:ea typeface="Calibri"/>
                <a:cs typeface="Calibri"/>
                <a:sym typeface="Calibri"/>
              </a:rPr>
              <a:t>[FLASH] Known products are identified instantly via embedding lookup -- no LLM or heavy inference needed</a:t>
            </a:r>
            <a:endParaRPr sz="1200" b="0" i="0" u="none" strike="noStrike" cap="none">
              <a:solidFill>
                <a:srgbClr val="34D39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34D399"/>
                </a:solidFill>
                <a:latin typeface="Calibri"/>
                <a:ea typeface="Calibri"/>
                <a:cs typeface="Calibri"/>
                <a:sym typeface="Calibri"/>
              </a:rPr>
              <a:t>Queries LLM if there is no library matchings. </a:t>
            </a:r>
            <a:endParaRPr sz="1200">
              <a:solidFill>
                <a:srgbClr val="34D3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201;g3f3103c3c8f_5_68">
            <a:extLst>
              <a:ext uri="{FF2B5EF4-FFF2-40B4-BE49-F238E27FC236}">
                <a16:creationId xmlns:a16="http://schemas.microsoft.com/office/drawing/2014/main" id="{7DD2615A-DBDD-0ABE-7BB0-F07C6C953050}"/>
              </a:ext>
            </a:extLst>
          </p:cNvPr>
          <p:cNvSpPr/>
          <p:nvPr/>
        </p:nvSpPr>
        <p:spPr>
          <a:xfrm>
            <a:off x="370774" y="251629"/>
            <a:ext cx="7200900" cy="4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38"/>
              </a:buClr>
              <a:buSzPts val="2300"/>
              <a:buFont typeface="Cambria"/>
              <a:buNone/>
            </a:pPr>
            <a:r>
              <a:rPr lang="en-US" sz="2300" b="1" dirty="0">
                <a:solidFill>
                  <a:srgbClr val="1B2A38"/>
                </a:solidFill>
                <a:latin typeface="Cambria"/>
                <a:ea typeface="Cambria"/>
                <a:cs typeface="Cambria"/>
                <a:sym typeface="Cambria"/>
              </a:rPr>
              <a:t>Stage 2 — Output Screenshot</a:t>
            </a:r>
            <a:endParaRPr sz="23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1EAD477-843D-80A2-B436-11F14A06F0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04454"/>
            <a:ext cx="9144000" cy="3775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1021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7"/>
          <p:cNvSpPr/>
          <p:nvPr/>
        </p:nvSpPr>
        <p:spPr>
          <a:xfrm>
            <a:off x="365760" y="201168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Results &amp; Deliverables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7"/>
          <p:cNvSpPr/>
          <p:nvPr/>
        </p:nvSpPr>
        <p:spPr>
          <a:xfrm>
            <a:off x="365760" y="914400"/>
            <a:ext cx="4160520" cy="1828800"/>
          </a:xfrm>
          <a:prstGeom prst="roundRect">
            <a:avLst>
              <a:gd name="adj" fmla="val 6000"/>
            </a:avLst>
          </a:prstGeom>
          <a:solidFill>
            <a:srgbClr val="132040"/>
          </a:solidFill>
          <a:ln w="19050" cap="flat" cmpd="sng">
            <a:solidFill>
              <a:srgbClr val="4F9CF9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27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9" name="Google Shape;289;p7"/>
          <p:cNvSpPr/>
          <p:nvPr/>
        </p:nvSpPr>
        <p:spPr>
          <a:xfrm>
            <a:off x="502920" y="1188720"/>
            <a:ext cx="685800" cy="685800"/>
          </a:xfrm>
          <a:prstGeom prst="roundRect">
            <a:avLst>
              <a:gd name="adj" fmla="val 13333"/>
            </a:avLst>
          </a:prstGeom>
          <a:solidFill>
            <a:srgbClr val="4F9CF9"/>
          </a:solidFill>
          <a:ln w="12700" cap="flat" cmpd="sng">
            <a:solidFill>
              <a:srgbClr val="4F9CF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0" name="Google Shape;290;p7"/>
          <p:cNvSpPr/>
          <p:nvPr/>
        </p:nvSpPr>
        <p:spPr>
          <a:xfrm>
            <a:off x="502920" y="1188720"/>
            <a:ext cx="6858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[IMG]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7"/>
          <p:cNvSpPr/>
          <p:nvPr/>
        </p:nvSpPr>
        <p:spPr>
          <a:xfrm>
            <a:off x="1261872" y="1051560"/>
            <a:ext cx="312724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Annotated Images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7"/>
          <p:cNvSpPr/>
          <p:nvPr/>
        </p:nvSpPr>
        <p:spPr>
          <a:xfrm>
            <a:off x="1261872" y="1536192"/>
            <a:ext cx="3127248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Bounding boxes drawn per product, labeled with CLIP category and confidence -- exported per test image.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7"/>
          <p:cNvSpPr/>
          <p:nvPr/>
        </p:nvSpPr>
        <p:spPr>
          <a:xfrm>
            <a:off x="4800600" y="914400"/>
            <a:ext cx="4160520" cy="1828800"/>
          </a:xfrm>
          <a:prstGeom prst="roundRect">
            <a:avLst>
              <a:gd name="adj" fmla="val 6000"/>
            </a:avLst>
          </a:prstGeom>
          <a:solidFill>
            <a:srgbClr val="132040"/>
          </a:solidFill>
          <a:ln w="19050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27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4" name="Google Shape;294;p7"/>
          <p:cNvSpPr/>
          <p:nvPr/>
        </p:nvSpPr>
        <p:spPr>
          <a:xfrm>
            <a:off x="4937760" y="1188720"/>
            <a:ext cx="685800" cy="685800"/>
          </a:xfrm>
          <a:prstGeom prst="roundRect">
            <a:avLst>
              <a:gd name="adj" fmla="val 13333"/>
            </a:avLst>
          </a:prstGeom>
          <a:solidFill>
            <a:srgbClr val="F59E0B"/>
          </a:solidFill>
          <a:ln w="12700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5" name="Google Shape;295;p7"/>
          <p:cNvSpPr/>
          <p:nvPr/>
        </p:nvSpPr>
        <p:spPr>
          <a:xfrm>
            <a:off x="4937760" y="1188720"/>
            <a:ext cx="6858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[CSV]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7"/>
          <p:cNvSpPr/>
          <p:nvPr/>
        </p:nvSpPr>
        <p:spPr>
          <a:xfrm>
            <a:off x="5696712" y="1051560"/>
            <a:ext cx="312724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Results CSV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7"/>
          <p:cNvSpPr/>
          <p:nvPr/>
        </p:nvSpPr>
        <p:spPr>
          <a:xfrm>
            <a:off x="5696712" y="1536192"/>
            <a:ext cx="3127248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Per-object row: box coordinates, YOLO confidence, CLIP label + top-3 alternate categories.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7"/>
          <p:cNvSpPr/>
          <p:nvPr/>
        </p:nvSpPr>
        <p:spPr>
          <a:xfrm>
            <a:off x="365760" y="2926080"/>
            <a:ext cx="4160520" cy="1828800"/>
          </a:xfrm>
          <a:prstGeom prst="roundRect">
            <a:avLst>
              <a:gd name="adj" fmla="val 6000"/>
            </a:avLst>
          </a:prstGeom>
          <a:solidFill>
            <a:srgbClr val="132040"/>
          </a:solidFill>
          <a:ln w="19050" cap="flat" cmpd="sng">
            <a:solidFill>
              <a:srgbClr val="34D399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27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9" name="Google Shape;299;p7"/>
          <p:cNvSpPr/>
          <p:nvPr/>
        </p:nvSpPr>
        <p:spPr>
          <a:xfrm>
            <a:off x="502920" y="3200400"/>
            <a:ext cx="685800" cy="685800"/>
          </a:xfrm>
          <a:prstGeom prst="roundRect">
            <a:avLst>
              <a:gd name="adj" fmla="val 13333"/>
            </a:avLst>
          </a:prstGeom>
          <a:solidFill>
            <a:srgbClr val="34D399"/>
          </a:solidFill>
          <a:ln w="12700" cap="flat" cmpd="sng">
            <a:solidFill>
              <a:srgbClr val="34D3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0" name="Google Shape;300;p7"/>
          <p:cNvSpPr/>
          <p:nvPr/>
        </p:nvSpPr>
        <p:spPr>
          <a:xfrm>
            <a:off x="502920" y="3200400"/>
            <a:ext cx="6858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[BOX]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7"/>
          <p:cNvSpPr/>
          <p:nvPr/>
        </p:nvSpPr>
        <p:spPr>
          <a:xfrm>
            <a:off x="1261872" y="3063240"/>
            <a:ext cx="312724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Inventory Summary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7"/>
          <p:cNvSpPr/>
          <p:nvPr/>
        </p:nvSpPr>
        <p:spPr>
          <a:xfrm>
            <a:off x="1261872" y="3547872"/>
            <a:ext cx="3127248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Category-level count chart, out-of-stock gap detection, planogram variance report.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7"/>
          <p:cNvSpPr/>
          <p:nvPr/>
        </p:nvSpPr>
        <p:spPr>
          <a:xfrm>
            <a:off x="4800600" y="2926080"/>
            <a:ext cx="4160520" cy="1828800"/>
          </a:xfrm>
          <a:prstGeom prst="roundRect">
            <a:avLst>
              <a:gd name="adj" fmla="val 6000"/>
            </a:avLst>
          </a:prstGeom>
          <a:solidFill>
            <a:srgbClr val="132040"/>
          </a:solidFill>
          <a:ln w="19050" cap="flat" cmpd="sng">
            <a:solidFill>
              <a:srgbClr val="4F9CF9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27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4" name="Google Shape;304;p7"/>
          <p:cNvSpPr/>
          <p:nvPr/>
        </p:nvSpPr>
        <p:spPr>
          <a:xfrm>
            <a:off x="4937760" y="3200400"/>
            <a:ext cx="685800" cy="685800"/>
          </a:xfrm>
          <a:prstGeom prst="roundRect">
            <a:avLst>
              <a:gd name="adj" fmla="val 13333"/>
            </a:avLst>
          </a:prstGeom>
          <a:solidFill>
            <a:srgbClr val="4F9CF9"/>
          </a:solidFill>
          <a:ln w="12700" cap="flat" cmpd="sng">
            <a:solidFill>
              <a:srgbClr val="4F9CF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7"/>
          <p:cNvSpPr/>
          <p:nvPr/>
        </p:nvSpPr>
        <p:spPr>
          <a:xfrm>
            <a:off x="4937760" y="3200400"/>
            <a:ext cx="6858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[WEB]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7"/>
          <p:cNvSpPr/>
          <p:nvPr/>
        </p:nvSpPr>
        <p:spPr>
          <a:xfrm>
            <a:off x="5696712" y="3063240"/>
            <a:ext cx="312724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Web App + REST API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7"/>
          <p:cNvSpPr/>
          <p:nvPr/>
        </p:nvSpPr>
        <p:spPr>
          <a:xfrm>
            <a:off x="5696712" y="3547872"/>
            <a:ext cx="3127248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FastAPI backend + React frontend -- upload shelf image, view detections, manage product library in real-time.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540"/>
        </a:solidFill>
        <a:effectLst/>
      </p:bgPr>
    </p:bg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3f3103c3c8f_5_0"/>
          <p:cNvSpPr/>
          <p:nvPr/>
        </p:nvSpPr>
        <p:spPr>
          <a:xfrm>
            <a:off x="411480" y="342900"/>
            <a:ext cx="6858000" cy="4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mbria"/>
              <a:buNone/>
            </a:pPr>
            <a:r>
              <a:rPr lang="en-US" sz="2400" b="1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Future Roadmap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g3f3103c3c8f_5_0"/>
          <p:cNvSpPr/>
          <p:nvPr/>
        </p:nvSpPr>
        <p:spPr>
          <a:xfrm>
            <a:off x="708452" y="1005494"/>
            <a:ext cx="1954500" cy="3017400"/>
          </a:xfrm>
          <a:prstGeom prst="roundRect">
            <a:avLst>
              <a:gd name="adj" fmla="val 3509"/>
            </a:avLst>
          </a:prstGeom>
          <a:solidFill>
            <a:srgbClr val="0B4F6C"/>
          </a:solidFill>
          <a:ln>
            <a:noFill/>
          </a:ln>
          <a:effectLst>
            <a:outerShdw blurRad="76200" dist="28575" dir="2700000" algn="bl" rotWithShape="0">
              <a:srgbClr val="000000">
                <a:alpha val="12160"/>
              </a:srgbClr>
            </a:outerShdw>
          </a:effectLst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g3f3103c3c8f_5_0"/>
          <p:cNvSpPr/>
          <p:nvPr/>
        </p:nvSpPr>
        <p:spPr>
          <a:xfrm>
            <a:off x="845612" y="1142654"/>
            <a:ext cx="480300" cy="4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6B4A"/>
              </a:buClr>
              <a:buSzPts val="2000"/>
              <a:buFont typeface="Cambria"/>
              <a:buNone/>
            </a:pPr>
            <a:r>
              <a:rPr lang="en-US" sz="2000" b="1" dirty="0">
                <a:solidFill>
                  <a:srgbClr val="FF6B4A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g3f3103c3c8f_5_0"/>
          <p:cNvSpPr/>
          <p:nvPr/>
        </p:nvSpPr>
        <p:spPr>
          <a:xfrm>
            <a:off x="845612" y="1691294"/>
            <a:ext cx="1680300" cy="54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mbria"/>
              <a:buNone/>
            </a:pPr>
            <a:r>
              <a:rPr lang="en-US" sz="1100" b="1" dirty="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Improve Quantity count accuracy</a:t>
            </a:r>
            <a:endParaRPr sz="11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g3f3103c3c8f_5_0"/>
          <p:cNvSpPr/>
          <p:nvPr/>
        </p:nvSpPr>
        <p:spPr>
          <a:xfrm>
            <a:off x="2855006" y="1005494"/>
            <a:ext cx="1954500" cy="3017400"/>
          </a:xfrm>
          <a:prstGeom prst="roundRect">
            <a:avLst>
              <a:gd name="adj" fmla="val 3509"/>
            </a:avLst>
          </a:prstGeom>
          <a:solidFill>
            <a:srgbClr val="0B4F6C"/>
          </a:solidFill>
          <a:ln>
            <a:noFill/>
          </a:ln>
          <a:effectLst>
            <a:outerShdw blurRad="76200" dist="28575" dir="2700000" algn="bl" rotWithShape="0">
              <a:srgbClr val="000000">
                <a:alpha val="12160"/>
              </a:srgbClr>
            </a:outerShdw>
          </a:effectLst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g3f3103c3c8f_5_0"/>
          <p:cNvSpPr/>
          <p:nvPr/>
        </p:nvSpPr>
        <p:spPr>
          <a:xfrm>
            <a:off x="2992166" y="1142654"/>
            <a:ext cx="480300" cy="4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6B4A"/>
              </a:buClr>
              <a:buSzPts val="2000"/>
              <a:buFont typeface="Cambria"/>
              <a:buNone/>
            </a:pPr>
            <a:r>
              <a:rPr lang="en-US" sz="2000" b="1" dirty="0">
                <a:solidFill>
                  <a:srgbClr val="FF6B4A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g3f3103c3c8f_5_0"/>
          <p:cNvSpPr/>
          <p:nvPr/>
        </p:nvSpPr>
        <p:spPr>
          <a:xfrm>
            <a:off x="2916382" y="1691294"/>
            <a:ext cx="1756084" cy="54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mbria"/>
              <a:buNone/>
            </a:pPr>
            <a:r>
              <a:rPr lang="en-US" sz="1100" b="1" dirty="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Add additional products for classification </a:t>
            </a:r>
            <a:endParaRPr sz="11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g3f3103c3c8f_5_0"/>
          <p:cNvSpPr/>
          <p:nvPr/>
        </p:nvSpPr>
        <p:spPr>
          <a:xfrm>
            <a:off x="5001560" y="1005494"/>
            <a:ext cx="1954500" cy="3017400"/>
          </a:xfrm>
          <a:prstGeom prst="roundRect">
            <a:avLst>
              <a:gd name="adj" fmla="val 3509"/>
            </a:avLst>
          </a:prstGeom>
          <a:solidFill>
            <a:srgbClr val="0B4F6C"/>
          </a:solidFill>
          <a:ln>
            <a:noFill/>
          </a:ln>
          <a:effectLst>
            <a:outerShdw blurRad="76200" dist="28575" dir="2700000" algn="bl" rotWithShape="0">
              <a:srgbClr val="000000">
                <a:alpha val="12160"/>
              </a:srgbClr>
            </a:outerShdw>
          </a:effectLst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g3f3103c3c8f_5_0"/>
          <p:cNvSpPr/>
          <p:nvPr/>
        </p:nvSpPr>
        <p:spPr>
          <a:xfrm>
            <a:off x="5138720" y="1142654"/>
            <a:ext cx="480300" cy="4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6B4A"/>
              </a:buClr>
              <a:buSzPts val="2000"/>
              <a:buFont typeface="Cambria"/>
              <a:buNone/>
            </a:pPr>
            <a:r>
              <a:rPr lang="en-US" sz="2000" b="1" dirty="0">
                <a:solidFill>
                  <a:srgbClr val="FF6B4A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g3f3103c3c8f_5_0"/>
          <p:cNvSpPr/>
          <p:nvPr/>
        </p:nvSpPr>
        <p:spPr>
          <a:xfrm>
            <a:off x="5138720" y="1691294"/>
            <a:ext cx="1680300" cy="54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mbria"/>
              <a:buNone/>
            </a:pPr>
            <a:endParaRPr sz="1100" b="1" dirty="0">
              <a:solidFill>
                <a:srgbClr val="FFFFFF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mbria"/>
              <a:buNone/>
            </a:pPr>
            <a:r>
              <a:rPr lang="en-US" sz="1100" b="1" dirty="0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Improve &amp; Implement for real time Business intelligent Scenarios </a:t>
            </a:r>
            <a:endParaRPr sz="11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g3f3103c3c8f_5_0"/>
          <p:cNvSpPr/>
          <p:nvPr/>
        </p:nvSpPr>
        <p:spPr>
          <a:xfrm>
            <a:off x="342900" y="4855464"/>
            <a:ext cx="5486400" cy="20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FC3CE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AFC3CE"/>
                </a:solidFill>
                <a:latin typeface="Calibri"/>
                <a:ea typeface="Calibri"/>
                <a:cs typeface="Calibri"/>
                <a:sym typeface="Calibri"/>
              </a:rPr>
              <a:t>Retail Shelf Product Recognition  |  YOLOv8 + CLIP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g3f3103c3c8f_5_0"/>
          <p:cNvSpPr/>
          <p:nvPr/>
        </p:nvSpPr>
        <p:spPr>
          <a:xfrm>
            <a:off x="8435340" y="4855464"/>
            <a:ext cx="342900" cy="20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AFC3CE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AFC3CE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1070</TotalTime>
  <Words>838</Words>
  <Application>Microsoft Office PowerPoint</Application>
  <PresentationFormat>On-screen Show (16:9)</PresentationFormat>
  <Paragraphs>191</Paragraphs>
  <Slides>12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Cambria</vt:lpstr>
      <vt:lpstr>Courier New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PptxGenJS</dc:creator>
  <cp:lastModifiedBy>Moorthy Duraisamy</cp:lastModifiedBy>
  <cp:revision>8</cp:revision>
  <dcterms:created xsi:type="dcterms:W3CDTF">2026-07-05T05:35:41Z</dcterms:created>
  <dcterms:modified xsi:type="dcterms:W3CDTF">2026-08-08T04:08:02Z</dcterms:modified>
</cp:coreProperties>
</file>