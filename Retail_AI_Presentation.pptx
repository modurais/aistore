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iCzEvAYziOUlGnFWioWbcqva5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F8A3FB-ECE3-4B66-B9A1-984D36C42418}">
  <a:tblStyle styleId="{D8F8A3FB-ECE3-4B66-B9A1-984D36C424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3103c3c8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g3f3103c3c8f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3103c3c8f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103c3c8f_5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3103c3c8f_5_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3103c3c8f_5_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3103c3c8f_5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f3103c3c8f_5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3103c3c8f_5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103c3c8f_5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3103c3c8f_5_6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3103c3c8f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f3103c3c8f_5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3103c3c8f_5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3103c3c8f_1_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3f3103c3c8f_1_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3f3103c3c8f_1_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3103c3c8f_1_7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3f3103c3c8f_1_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3103c3c8f_1_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f3103c3c8f_1_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f3103c3c8f_1_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3103c3c8f_1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f3103c3c8f_1_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3f3103c3c8f_1_7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3f3103c3c8f_1_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3103c3c8f_1_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f3103c3c8f_1_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3103c3c8f_1_8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g3f3103c3c8f_1_8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3f3103c3c8f_1_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3103c3c8f_1_8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3f3103c3c8f_1_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3103c3c8f_1_9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f3103c3c8f_1_9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3f3103c3c8f_1_9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3f3103c3c8f_1_9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f3103c3c8f_1_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3103c3c8f_1_9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f3103c3c8f_1_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3103c3c8f_1_10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f3103c3c8f_1_10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f3103c3c8f_1_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103c3c8f_1_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3103c3c8f_1_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f3103c3c8f_1_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f3103c3c8f_1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3103c3c8f_1_0"/>
          <p:cNvSpPr/>
          <p:nvPr/>
        </p:nvSpPr>
        <p:spPr>
          <a:xfrm>
            <a:off x="617220" y="617220"/>
            <a:ext cx="685800" cy="685800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g3f3103c3c8f_1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528" y="795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3103c3c8f_1_0"/>
          <p:cNvSpPr/>
          <p:nvPr/>
        </p:nvSpPr>
        <p:spPr>
          <a:xfrm>
            <a:off x="617220" y="1851660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RETAIL SHELF PRODUCT RECOGNITION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3f3103c3c8f_1_0"/>
          <p:cNvCxnSpPr/>
          <p:nvPr/>
        </p:nvCxnSpPr>
        <p:spPr>
          <a:xfrm>
            <a:off x="617220" y="3120390"/>
            <a:ext cx="2194800" cy="0"/>
          </a:xfrm>
          <a:prstGeom prst="straightConnector1">
            <a:avLst/>
          </a:prstGeom>
          <a:noFill/>
          <a:ln w="1905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3f3103c3c8f_1_0"/>
          <p:cNvSpPr/>
          <p:nvPr/>
        </p:nvSpPr>
        <p:spPr>
          <a:xfrm>
            <a:off x="617220" y="3257550"/>
            <a:ext cx="6172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Capstone Project Review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 July 5,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3103c3c8f_1_0"/>
          <p:cNvSpPr txBox="1"/>
          <p:nvPr/>
        </p:nvSpPr>
        <p:spPr>
          <a:xfrm>
            <a:off x="525780" y="380619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Arial"/>
              <a:buChar char="•"/>
            </a:pPr>
            <a:r>
              <a:rPr lang="en-US" sz="1500" b="0" i="0" u="none" strike="noStrike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Team(Group: </a:t>
            </a: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500" b="0" i="0" u="none" strike="noStrike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) :  Moorthy, Nikhil, Sivakanth, Surabhi</a:t>
            </a:r>
            <a:endParaRPr sz="1500" b="0" i="0" u="none" strike="noStrike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Mentor: Pratyusha</a:t>
            </a:r>
            <a:endParaRPr sz="1500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Professor: Anoop</a:t>
            </a:r>
            <a:endParaRPr sz="1500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A Three-Stage Computer Vision Pipeline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0292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12648" y="2377440"/>
            <a:ext cx="384048" cy="384048"/>
          </a:xfrm>
          <a:prstGeom prst="ellipse">
            <a:avLst/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61264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106984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&amp; YOLOv26 Detection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59436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are the products?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338328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3493008" y="2377440"/>
            <a:ext cx="384048" cy="384048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349300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395020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 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347472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category is each crop?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26364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6373368" y="2377440"/>
            <a:ext cx="384048" cy="38404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637336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83056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 Library Match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35508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exact SKU is it?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 + openai/clip-vit-base-patch32 + FastAPI + React  |  Capstone Project  |  July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6050150" y="2930725"/>
            <a:ext cx="198900" cy="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"/>
          <p:cNvCxnSpPr/>
          <p:nvPr/>
        </p:nvCxnSpPr>
        <p:spPr>
          <a:xfrm>
            <a:off x="3169488" y="2930725"/>
            <a:ext cx="198900" cy="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5760" y="960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02920" y="10332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audits are slow &amp; costly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02920" y="145389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Shelf checks across stores take hours. Errors are frequent.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6576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02920" y="231343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Thousands of SKUs — hard to scale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02920" y="273405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a classifier per product is infeasible at retail scale.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6576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02920" y="359359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Out-of-stocks go undetected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02920" y="401421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Gaps and planogram violations are invisible without automated vision.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754880" y="9601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132040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4892040" y="107899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Solution Goal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892040" y="160020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Detect every product on a shelf image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892040" y="21671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Identify each product </a:t>
            </a: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892040" y="273405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Match known SKUs via embedding library first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892040" y="3262263"/>
            <a:ext cx="379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Deliver annotated results + inventory 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892040" y="42062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Three-Stage CV Pipeline --&gt;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Three-Stage Pipeline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stage answers a different question - known products skip Stage 2 via library shortcut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37160" y="1325880"/>
            <a:ext cx="1188720" cy="25603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37160" y="1325880"/>
            <a:ext cx="118872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[IMG]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Shelf Image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32588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64592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68249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68249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71907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&amp; YOLOv26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71907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products?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71907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89.7%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71907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mAP@50  SKU110K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52044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84048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387705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87705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91363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391363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category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each crop?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91363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Implemented: 38 categories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Tested: 3 Categories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91363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prompts each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71500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03504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07161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607161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10819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Library Match &amp; Planogram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10819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exact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SKU is it?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10819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&gt;= 0.82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10819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 cutoff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90956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229600" y="1325880"/>
            <a:ext cx="685800" cy="2560320"/>
          </a:xfrm>
          <a:prstGeom prst="roundRect">
            <a:avLst>
              <a:gd name="adj" fmla="val 13333"/>
            </a:avLst>
          </a:prstGeom>
          <a:solidFill>
            <a:srgbClr val="132040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8229600" y="1325875"/>
            <a:ext cx="7275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[OK]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1645920" y="4169664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3"/>
          <p:cNvSpPr/>
          <p:nvPr/>
        </p:nvSpPr>
        <p:spPr>
          <a:xfrm>
            <a:off x="1783080" y="4224528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known products matched via CLIP embedding. Only unmatched items proceed to </a:t>
            </a:r>
            <a:r>
              <a:rPr lang="en-US" sz="1100" dirty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LLM matching &amp; Manual.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103c3c8f_5_25"/>
          <p:cNvSpPr/>
          <p:nvPr/>
        </p:nvSpPr>
        <p:spPr>
          <a:xfrm>
            <a:off x="411480" y="308610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YOLOv8 &amp; Yolov26 Object Detection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3103c3c8f_5_25"/>
          <p:cNvSpPr/>
          <p:nvPr/>
        </p:nvSpPr>
        <p:spPr>
          <a:xfrm>
            <a:off x="411480" y="925830"/>
            <a:ext cx="41148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1B2A38"/>
                </a:solidFill>
                <a:latin typeface="Calibri"/>
                <a:ea typeface="Calibri"/>
                <a:cs typeface="Calibri"/>
                <a:sym typeface="Calibri"/>
              </a:rPr>
              <a:t>Fine-tune a YOLOv26n model on SKU110K to localize every product bounding box on a shelf image — a single generic "product" class, independent of brand.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1B2A38"/>
                </a:solidFill>
                <a:latin typeface="Calibri"/>
                <a:ea typeface="Calibri"/>
                <a:cs typeface="Calibri"/>
                <a:sym typeface="Calibri"/>
              </a:rPr>
              <a:t>We ensured that real time some additional stickers are not identified.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g3f3103c3c8f_5_25"/>
          <p:cNvGraphicFramePr/>
          <p:nvPr>
            <p:extLst>
              <p:ext uri="{D42A27DB-BD31-4B8C-83A1-F6EECF244321}">
                <p14:modId xmlns:p14="http://schemas.microsoft.com/office/powerpoint/2010/main" val="2178010415"/>
              </p:ext>
            </p:extLst>
          </p:nvPr>
        </p:nvGraphicFramePr>
        <p:xfrm>
          <a:off x="411480" y="1954530"/>
          <a:ext cx="4114825" cy="1714500"/>
        </p:xfrm>
        <a:graphic>
          <a:graphicData uri="http://schemas.openxmlformats.org/drawingml/2006/table">
            <a:tbl>
              <a:tblPr>
                <a:noFill/>
                <a:tableStyleId>{D8F8A3FB-ECE3-4B66-B9A1-984D36C42418}</a:tableStyleId>
              </a:tblPr>
              <a:tblGrid>
                <a:gridCol w="144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model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YOLOv26 — fast, lightweight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epochs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data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of SKU110K train split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Retrain control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FORCE_RETRAIN flag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Skip logic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Reuses sku110k_best.pt if already trained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g3f3103c3c8f_5_25"/>
          <p:cNvSpPr/>
          <p:nvPr/>
        </p:nvSpPr>
        <p:spPr>
          <a:xfrm>
            <a:off x="4869180" y="925830"/>
            <a:ext cx="3840600" cy="3703200"/>
          </a:xfrm>
          <a:prstGeom prst="roundRect">
            <a:avLst>
              <a:gd name="adj" fmla="val 2222"/>
            </a:avLst>
          </a:prstGeom>
          <a:solidFill>
            <a:srgbClr val="0B2540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3103c3c8f_5_25"/>
          <p:cNvSpPr/>
          <p:nvPr/>
        </p:nvSpPr>
        <p:spPr>
          <a:xfrm>
            <a:off x="5109210" y="1131570"/>
            <a:ext cx="548400" cy="548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3f3103c3c8f_5_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1856" y="1274216"/>
            <a:ext cx="263348" cy="26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3103c3c8f_5_25"/>
          <p:cNvSpPr/>
          <p:nvPr/>
        </p:nvSpPr>
        <p:spPr>
          <a:xfrm>
            <a:off x="5760720" y="1165860"/>
            <a:ext cx="2811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detect first?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3103c3c8f_5_25"/>
          <p:cNvSpPr/>
          <p:nvPr/>
        </p:nvSpPr>
        <p:spPr>
          <a:xfrm>
            <a:off x="5109210" y="1748790"/>
            <a:ext cx="33603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marR="0" lvl="0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Shelf images are densely packed — dozens of products per frame.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A single-class detector generalizes across brands without per-SKU labels.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Each detected box becomes an isolated crop for the classifier.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g3f3103c3c8f_5_25"/>
          <p:cNvCxnSpPr/>
          <p:nvPr/>
        </p:nvCxnSpPr>
        <p:spPr>
          <a:xfrm>
            <a:off x="5109210" y="3257550"/>
            <a:ext cx="3360300" cy="0"/>
          </a:xfrm>
          <a:prstGeom prst="straightConnector1">
            <a:avLst/>
          </a:prstGeom>
          <a:noFill/>
          <a:ln w="952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g3f3103c3c8f_5_25"/>
          <p:cNvSpPr/>
          <p:nvPr/>
        </p:nvSpPr>
        <p:spPr>
          <a:xfrm>
            <a:off x="5109210" y="3360420"/>
            <a:ext cx="336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C7DB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9FC7DB"/>
                </a:solidFill>
                <a:latin typeface="Calibri"/>
                <a:ea typeface="Calibri"/>
                <a:cs typeface="Calibri"/>
                <a:sym typeface="Calibri"/>
              </a:rPr>
              <a:t>Tunable at inference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3103c3c8f_5_25"/>
          <p:cNvSpPr/>
          <p:nvPr/>
        </p:nvSpPr>
        <p:spPr>
          <a:xfrm>
            <a:off x="5109210" y="3600450"/>
            <a:ext cx="336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YOLO_CONF = 0.10   •   YOLO_IOU = 0.45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3103c3c8f_5_25"/>
          <p:cNvSpPr/>
          <p:nvPr/>
        </p:nvSpPr>
        <p:spPr>
          <a:xfrm>
            <a:off x="5109210" y="3909060"/>
            <a:ext cx="336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Lower confidence threshold favors recall on small, tightly packed shelf items.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3103c3c8f_5_25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3103c3c8f_5_25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DB6B6-1EF6-720D-6153-6DEB42ACC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46" y="3827090"/>
            <a:ext cx="981212" cy="7811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91BDBD-50EB-DED3-0180-3A9889B4A5A3}"/>
              </a:ext>
            </a:extLst>
          </p:cNvPr>
          <p:cNvSpPr/>
          <p:nvPr/>
        </p:nvSpPr>
        <p:spPr>
          <a:xfrm>
            <a:off x="1593273" y="4073236"/>
            <a:ext cx="1690254" cy="256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Real time scenario we eliminated these tags for identification.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7BA86F-2FDC-AC0A-F729-159C42B7B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765" y="4053490"/>
            <a:ext cx="1663115" cy="781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103c3c8f_5_43"/>
          <p:cNvSpPr/>
          <p:nvPr/>
        </p:nvSpPr>
        <p:spPr>
          <a:xfrm>
            <a:off x="411480" y="308610"/>
            <a:ext cx="6858000" cy="480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Validation Metrics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3103c3c8f_5_43"/>
          <p:cNvSpPr/>
          <p:nvPr/>
        </p:nvSpPr>
        <p:spPr>
          <a:xfrm>
            <a:off x="411480" y="768096"/>
            <a:ext cx="6858000" cy="274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Reported automatically by yolo_model.val() after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3103c3c8f_5_43"/>
          <p:cNvSpPr/>
          <p:nvPr/>
        </p:nvSpPr>
        <p:spPr>
          <a:xfrm>
            <a:off x="411480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3103c3c8f_5_43"/>
          <p:cNvSpPr/>
          <p:nvPr/>
        </p:nvSpPr>
        <p:spPr>
          <a:xfrm>
            <a:off x="411480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89.70 %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3103c3c8f_5_43"/>
          <p:cNvSpPr/>
          <p:nvPr/>
        </p:nvSpPr>
        <p:spPr>
          <a:xfrm>
            <a:off x="411480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3103c3c8f_5_43"/>
          <p:cNvSpPr/>
          <p:nvPr/>
        </p:nvSpPr>
        <p:spPr>
          <a:xfrm>
            <a:off x="514350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Detection accuracy at 50% IoU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3103c3c8f_5_43"/>
          <p:cNvSpPr/>
          <p:nvPr/>
        </p:nvSpPr>
        <p:spPr>
          <a:xfrm>
            <a:off x="2489454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3103c3c8f_5_43"/>
          <p:cNvSpPr/>
          <p:nvPr/>
        </p:nvSpPr>
        <p:spPr>
          <a:xfrm>
            <a:off x="2489454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54.10 %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3103c3c8f_5_43"/>
          <p:cNvSpPr/>
          <p:nvPr/>
        </p:nvSpPr>
        <p:spPr>
          <a:xfrm>
            <a:off x="2489454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3103c3c8f_5_43"/>
          <p:cNvSpPr/>
          <p:nvPr/>
        </p:nvSpPr>
        <p:spPr>
          <a:xfrm>
            <a:off x="2592324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Averaged across IoU thresholds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3103c3c8f_5_43"/>
          <p:cNvSpPr/>
          <p:nvPr/>
        </p:nvSpPr>
        <p:spPr>
          <a:xfrm>
            <a:off x="4567428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3103c3c8f_5_43"/>
          <p:cNvSpPr/>
          <p:nvPr/>
        </p:nvSpPr>
        <p:spPr>
          <a:xfrm>
            <a:off x="4567428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89.59 %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3103c3c8f_5_43"/>
          <p:cNvSpPr/>
          <p:nvPr/>
        </p:nvSpPr>
        <p:spPr>
          <a:xfrm>
            <a:off x="4567428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3103c3c8f_5_43"/>
          <p:cNvSpPr/>
          <p:nvPr/>
        </p:nvSpPr>
        <p:spPr>
          <a:xfrm>
            <a:off x="4670298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Share of detections that are correct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3103c3c8f_5_43"/>
          <p:cNvSpPr/>
          <p:nvPr/>
        </p:nvSpPr>
        <p:spPr>
          <a:xfrm>
            <a:off x="6645402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3103c3c8f_5_43"/>
          <p:cNvSpPr/>
          <p:nvPr/>
        </p:nvSpPr>
        <p:spPr>
          <a:xfrm>
            <a:off x="6645402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83.77 %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3103c3c8f_5_43"/>
          <p:cNvSpPr/>
          <p:nvPr/>
        </p:nvSpPr>
        <p:spPr>
          <a:xfrm>
            <a:off x="6645402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3103c3c8f_5_43"/>
          <p:cNvSpPr/>
          <p:nvPr/>
        </p:nvSpPr>
        <p:spPr>
          <a:xfrm>
            <a:off x="6748272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Share of true products detected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3103c3c8f_5_43"/>
          <p:cNvSpPr/>
          <p:nvPr/>
        </p:nvSpPr>
        <p:spPr>
          <a:xfrm>
            <a:off x="582930" y="3415284"/>
            <a:ext cx="480300" cy="48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3103c3c8f_5_43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3103c3c8f_5_43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103c3c8f_5_68"/>
          <p:cNvSpPr/>
          <p:nvPr/>
        </p:nvSpPr>
        <p:spPr>
          <a:xfrm>
            <a:off x="370774" y="251629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Output Screenshot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191B3-C467-0CBF-9113-E1AB55EB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0" y="731929"/>
            <a:ext cx="8636091" cy="3680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 Classification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CLIP Classifies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6576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65760" y="129844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Crop Image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828800" y="15087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14884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2148840" y="129844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611880" y="151790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6576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65760" y="228600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x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828800" y="24963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214884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2148840" y="228600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611880" y="250545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65760" y="3493008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365760" y="349300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Category Match  (e.g. Beverages: 0.91)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Product Categories  x  4 Prompts Each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75488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754880" y="129844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Beverages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85800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858000" y="129844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Snacks &amp; Chips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75488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754880" y="18928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Dairy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85800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6858000" y="18928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Cereals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75488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4754880" y="248716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Personal Care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685800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6858000" y="248716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Cleaning Supplies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475488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4754880" y="30815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Frozen Foods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85800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858000" y="30815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Condiments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75488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754880" y="36758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Bakery Items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685800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6858000" y="36758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Candy &amp; Chocolate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more categories  (extensible by editing PRODUCT_CATEGORIES)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 Library Matching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Library Matching Works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274320" y="1353312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132040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274320" y="1353312"/>
            <a:ext cx="15544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[SEARCH]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Crop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CLIP encoder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512-dim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828800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2194560" y="1353312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32040"/>
          </a:solidFill>
          <a:ln w="1905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2331720" y="14447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Library (DB)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2286000" y="192024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340864" y="19476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Pepsi 500ml   [0.23, 0.87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286000" y="235915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2340864" y="23865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Coke 330ml    [0.91, 0.12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2286000" y="2798064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2340864" y="2825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Lays BBQ 80g  [0.45, 0.63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286000" y="3236976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2340864" y="32644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Oreo 200g     [0.71, 0.34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2331720" y="3657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row = one reference image + CLIP embedding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5212080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577840" y="1353312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577840" y="135331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309360" y="24323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577840" y="2852928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32040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577840" y="28529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&gt;= 0.82?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577840" y="3611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[OK] Yes -&gt; SKU matched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577840" y="4005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[&gt;&gt;] No  -&gt; forward to Stage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274320" y="4480560"/>
            <a:ext cx="86410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411480" y="4526280"/>
            <a:ext cx="8366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[FLASH] Known products are identified instantly via embedding lookup -- no LLM or heavy inference needed</a:t>
            </a:r>
            <a:endParaRPr sz="1200" b="0" i="0" u="none" strike="noStrike" cap="none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Queries LLM if there is no library matchings. </a:t>
            </a:r>
            <a:endParaRPr sz="1200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1;g3f3103c3c8f_5_68">
            <a:extLst>
              <a:ext uri="{FF2B5EF4-FFF2-40B4-BE49-F238E27FC236}">
                <a16:creationId xmlns:a16="http://schemas.microsoft.com/office/drawing/2014/main" id="{7DD2615A-DBDD-0ABE-7BB0-F07C6C953050}"/>
              </a:ext>
            </a:extLst>
          </p:cNvPr>
          <p:cNvSpPr/>
          <p:nvPr/>
        </p:nvSpPr>
        <p:spPr>
          <a:xfrm>
            <a:off x="370774" y="251629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2 — Output Screenshot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EAD477-843D-80A2-B436-11F14A06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454"/>
            <a:ext cx="9144000" cy="377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2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Deliverables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6576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50292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502920" y="1188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[IMG]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261872" y="10515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Annotated Images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1261872" y="153619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Bounding boxes drawn per product, labeled with CLIP category and confidence -- exported per test image.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80060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93776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4937760" y="1188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[CSV]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696712" y="10515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CSV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696712" y="153619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Per-object row: box coordinates, YOLO confidence, CLIP label + top-3 alternate categories.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50292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02920" y="3200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[BOX]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1261872" y="306324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Inventory Summary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1261872" y="354787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Category-level count chart, out-of-stock gap detection, planogram variance report.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80060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93776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4937760" y="3200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[WEB]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696712" y="306324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App + REST API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5696712" y="354787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FastAPI backend + React frontend -- upload shelf image, view detections, manage product library in real-time.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3103c3c8f_5_0"/>
          <p:cNvSpPr/>
          <p:nvPr/>
        </p:nvSpPr>
        <p:spPr>
          <a:xfrm>
            <a:off x="411480" y="342900"/>
            <a:ext cx="6858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Roadmap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3103c3c8f_5_0"/>
          <p:cNvSpPr/>
          <p:nvPr/>
        </p:nvSpPr>
        <p:spPr>
          <a:xfrm>
            <a:off x="708452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3103c3c8f_5_0"/>
          <p:cNvSpPr/>
          <p:nvPr/>
        </p:nvSpPr>
        <p:spPr>
          <a:xfrm>
            <a:off x="845612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3103c3c8f_5_0"/>
          <p:cNvSpPr/>
          <p:nvPr/>
        </p:nvSpPr>
        <p:spPr>
          <a:xfrm>
            <a:off x="845612" y="1691294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Improve Quantity count accuracy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3103c3c8f_5_0"/>
          <p:cNvSpPr/>
          <p:nvPr/>
        </p:nvSpPr>
        <p:spPr>
          <a:xfrm>
            <a:off x="2855006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3103c3c8f_5_0"/>
          <p:cNvSpPr/>
          <p:nvPr/>
        </p:nvSpPr>
        <p:spPr>
          <a:xfrm>
            <a:off x="2992166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3103c3c8f_5_0"/>
          <p:cNvSpPr/>
          <p:nvPr/>
        </p:nvSpPr>
        <p:spPr>
          <a:xfrm>
            <a:off x="2916382" y="1691294"/>
            <a:ext cx="1756084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Add additional products for classification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3103c3c8f_5_0"/>
          <p:cNvSpPr/>
          <p:nvPr/>
        </p:nvSpPr>
        <p:spPr>
          <a:xfrm>
            <a:off x="5001560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3103c3c8f_5_0"/>
          <p:cNvSpPr/>
          <p:nvPr/>
        </p:nvSpPr>
        <p:spPr>
          <a:xfrm>
            <a:off x="5138720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3103c3c8f_5_0"/>
          <p:cNvSpPr/>
          <p:nvPr/>
        </p:nvSpPr>
        <p:spPr>
          <a:xfrm>
            <a:off x="5138720" y="1691294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endParaRPr sz="1100" b="1" dirty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Improve &amp; Implement for real time Business intelligent Scenarios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3103c3c8f_5_0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3103c3c8f_5_0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838</Words>
  <Application>Microsoft Office PowerPoint</Application>
  <PresentationFormat>On-screen Show (16:9)</PresentationFormat>
  <Paragraphs>191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Moorthy Duraisamy</cp:lastModifiedBy>
  <cp:revision>8</cp:revision>
  <dcterms:created xsi:type="dcterms:W3CDTF">2026-07-05T05:35:41Z</dcterms:created>
  <dcterms:modified xsi:type="dcterms:W3CDTF">2026-08-08T04:05:05Z</dcterms:modified>
</cp:coreProperties>
</file>